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Sumukh Gupta, Aaditya Goel, Kushika Mishra and Neya Tripathi. Our project asks whether one machine learning pipeline can forecast disease outbreaks across different Indian states and diseases. After checking what data is actually public, the question became precise: can we forecast whether an outbreak will be reported to IDSP, India’s Integrated Disease Surveillance Programme, in a given state, one to four weeks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make this hard. India’s detailed surveillance system, IHIP, is closed to the public, and the vector-borne disease programme only publishes yearly totals. The only open weekly data is IDSP’s outbreak reports, which tell us when an outbreak was reported, not how many people were infected. And the scoping review we based this on found that most AI early-warning systems are built for one disease in one region, so we rarely know whether they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word “reported”: we forecast whether IDSP receives an outbreak report, which is what the public data supports. We set three hypotheses up front, each with a concrete test. H2 is the generalization claim in our title. We return to all three with a verdict near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is EpiClim, built from IDSP’s weekly outbreak report PDFs. It is event data: a row exists only when an outbreak was reported. District-level forecasting is impossible because even the busiest district has 29 dengue report-weeks in 14 years, so we aggregated to state and ISO week. EpiClim’s own climate columns had impossible values, so we rebuilt weekly climate from NASA POWER at each state’s centroid. In 2020 reporting collapsed by 50 to 75 percent in every state and disease at once, consistent with COVID disruption, so 2020 is excluded from evaluation. Combinations with too few reports were dropped rather than 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six stages. The prediction target is whether an outbreak is reported h weeks in the future, for h from 1 to 4. We shift the target, not the features, and an automated assertion checks that the target week is exactly 7 times h days later, so no future information leaks into training. Features are mostly the state’s own recent reporting history, seasonality terms, and climate at several lags. The data is split strictly by time, and 2020 is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sees the same data, splits and metric. The first XGBoost version overfit, reaching a training PR-AUC of 1.000, so we constrained it to depth 3 with early stopping. SARIMA uses only the reporting series, with no climate, which later turns out to be informative. Stochastic gradient boosting was added on our supervisor’s recommendation. We use PR-AUC because positives are rare, and we only call a result useful if its whole 95% confidence interval sits above the base rate, meaning the fraction of test weeks that actually had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strongest combination. The base rate is 0.333: one in three test weeks had a dengue outbreak report in Maharashtra. Every model at every lead time has a confidence interval entirely above that line, so all 16 results beat chance, at roughly double the base rate. But the intervals are wide because the test set has only 78 weeks, and they overlap across models, so we cannot claim any one model is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finding. We ran the identical pipeline on seven state–disease combinations. For dengue it works in both states we could test: 31 of 32 results are above chance, and Kerala’s single miss is by one thousandth. For acute diarrhoeal disease it fails in all five states: only 1 of 80 results is above chance, and that one is fragile. So the answer to H2 is: the pipeline generalizes across regions for dengue, but not across diseases.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it work for dengue? The evidence points to seasonal reporting patterns. Removing climate changes almost nothing, SARIMA with no climate keeps up with the machine learning models, and performance is flat from one to four weeks ahead, which means the models know the season rather than the week-to-week dynamics. Peak dengue reporting falls in week 20 in Maharashtra and week 21 in Kerala. On explainability, SHAP gives a clean-looking ranking, but permutation importance does not back it up, so we do not treat SHAP output as evidence of causal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biggest limitation is the target itself: we forecast reporting, not infections. The test set is only 78 weeks, so intervals are wide. Our next step addresses that directly: IDSP has kept publishing the same weekly reports through 2026, so we can add about four more years, validate our extraction against EpiClim where they overlap, and test the models we already trained on data they have never seen. We will also compare reporting against official annual dengue case counts. The live demo and the code are linked here.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812750"/>
            <a:ext cx="10566473" cy="447012"/>
          </a:xfrm>
          <a:prstGeom prst="rect">
            <a:avLst/>
          </a:prstGeom>
          <a:noFill/>
          <a:ln/>
        </p:spPr>
        <p:txBody>
          <a:bodyPr wrap="square" lIns="0" tIns="0" rIns="0" bIns="0" rtlCol="0" anchor="t"/>
          <a:lstStyle>
            <a:lvl1pPr algn="l" indent="0" marL="0">
              <a:lnSpc>
                <a:spcPct val="115000"/>
              </a:lnSpc>
              <a:buNone/>
              <a:defRPr lang="en-US" sz="3200" dirty="0">
                <a:solidFill>
                  <a:srgbClr val="0F2A4A"/>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50" y="1564563"/>
            <a:ext cx="10566450" cy="4480637"/>
          </a:xfrm>
          <a:prstGeom prst="rect">
            <a:avLst/>
          </a:prstGeom>
          <a:noFill/>
          <a:ln/>
        </p:spPr>
        <p:txBody>
          <a:bodyPr wrap="square" lIns="0" tIns="0" rIns="0" bIns="0" rtlCol="0" anchor="t"/>
          <a:lstStyle>
            <a:lvl1pPr algn="l" indent="0" marL="0">
              <a:lnSpc>
                <a:spcPct val="140000"/>
              </a:lnSpc>
              <a:buNone/>
              <a:defRPr lang="en-US" sz="1600" dirty="0">
                <a:solidFill>
                  <a:srgbClr val="1F2937"/>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812750"/>
            <a:ext cx="10566473" cy="447012"/>
          </a:xfrm>
          <a:prstGeom prst="rect">
            <a:avLst/>
          </a:prstGeom>
          <a:noFill/>
          <a:ln/>
        </p:spPr>
        <p:txBody>
          <a:bodyPr wrap="square" lIns="0" tIns="0" rIns="0" bIns="0" rtlCol="0" anchor="t"/>
          <a:lstStyle>
            <a:lvl1pPr algn="l" indent="0" marL="0">
              <a:lnSpc>
                <a:spcPct val="115000"/>
              </a:lnSpc>
              <a:buNone/>
              <a:defRPr lang="en-US" sz="3200" dirty="0">
                <a:solidFill>
                  <a:srgbClr val="0F2A4A"/>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50" y="1564563"/>
            <a:ext cx="10566450" cy="4480637"/>
          </a:xfrm>
          <a:prstGeom prst="rect">
            <a:avLst/>
          </a:prstGeom>
          <a:noFill/>
          <a:ln/>
        </p:spPr>
        <p:txBody>
          <a:bodyPr wrap="square" lIns="0" tIns="0" rIns="0" bIns="0" rtlCol="0" anchor="t"/>
          <a:lstStyle>
            <a:lvl1pPr algn="l" indent="0" marL="0">
              <a:lnSpc>
                <a:spcPct val="140000"/>
              </a:lnSpc>
              <a:buNone/>
              <a:defRPr lang="en-US" sz="1600" dirty="0">
                <a:solidFill>
                  <a:srgbClr val="1F2937"/>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isease-outbreak-ai-nine.vercel.app" TargetMode="External"/><Relationship Id="rId2" Type="http://schemas.openxmlformats.org/officeDocument/2006/relationships/hyperlink" Target="https://github.com/sumukh-dgaf/disease-outbreak-ai" TargetMode="Externa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50" y="1015998"/>
            <a:ext cx="10883467" cy="1478206"/>
          </a:xfrm>
          <a:prstGeom prst="rect">
            <a:avLst/>
          </a:prstGeom>
          <a:noFill/>
          <a:ln/>
        </p:spPr>
        <p:txBody>
          <a:bodyPr wrap="square" lIns="0" tIns="0" rIns="0" bIns="0" rtlCol="0" anchor="t">
            <a:normAutofit/>
          </a:bodyPr>
          <a:lstStyle/>
          <a:p>
            <a:pPr algn="l" indent="0" marL="0">
              <a:lnSpc>
                <a:spcPts val="5720"/>
              </a:lnSpc>
              <a:buNone/>
            </a:pPr>
            <a:r>
              <a:rPr lang="en-US" sz="5200" b="1" i="0" dirty="0">
                <a:solidFill>
                  <a:srgbClr val="0F2A4A"/>
                </a:solidFill>
                <a:latin typeface="Arial" pitchFamily="34" charset="0"/>
                <a:ea typeface="Arial" pitchFamily="34" charset="-122"/>
                <a:cs typeface="Arial" pitchFamily="34" charset="-120"/>
              </a:rPr>
              <a:t>Forecasting Disease Outbreak Reporting Across Indian States</a:t>
            </a:r>
            <a:endParaRPr lang="en-US" sz="5200" dirty="0"/>
          </a:p>
        </p:txBody>
      </p:sp>
      <p:sp>
        <p:nvSpPr>
          <p:cNvPr id="3" name="Text 1"/>
          <p:cNvSpPr/>
          <p:nvPr/>
        </p:nvSpPr>
        <p:spPr>
          <a:xfrm>
            <a:off x="812750" y="2722772"/>
            <a:ext cx="10883467" cy="736586"/>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F2937"/>
                </a:solidFill>
                <a:latin typeface="Arial" pitchFamily="34" charset="0"/>
                <a:ea typeface="Arial" pitchFamily="34" charset="-122"/>
                <a:cs typeface="Arial" pitchFamily="34" charset="-120"/>
              </a:rPr>
              <a:t>A generalized machine learning pipeline for dengue and acute diarrhoeal disease, 1–4 weeks ahead</a:t>
            </a:r>
            <a:endParaRPr lang="en-US" sz="2000" dirty="0"/>
          </a:p>
        </p:txBody>
      </p:sp>
      <p:pic>
        <p:nvPicPr>
          <p:cNvPr id="4" name="Image 0" descr="line">    </p:cNvPr>
          <p:cNvPicPr>
            <a:picLocks noChangeAspect="1"/>
          </p:cNvPicPr>
          <p:nvPr/>
        </p:nvPicPr>
        <p:blipFill>
          <a:blip r:embed="rId1"/>
          <a:srcRect l="-79" r="-79" t="0" b="0"/>
          <a:stretch/>
        </p:blipFill>
        <p:spPr>
          <a:xfrm>
            <a:off x="812750" y="5087718"/>
            <a:ext cx="10566352" cy="12680"/>
          </a:xfrm>
          <a:prstGeom prst="rect">
            <a:avLst/>
          </a:prstGeom>
        </p:spPr>
      </p:pic>
      <p:sp>
        <p:nvSpPr>
          <p:cNvPr id="5" name="Text 2"/>
          <p:cNvSpPr/>
          <p:nvPr/>
        </p:nvSpPr>
        <p:spPr>
          <a:xfrm>
            <a:off x="812750" y="5354367"/>
            <a:ext cx="2603133" cy="380993"/>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F2A4A"/>
                </a:solidFill>
                <a:latin typeface="Arial" pitchFamily="34" charset="0"/>
                <a:ea typeface="Arial" pitchFamily="34" charset="-122"/>
                <a:cs typeface="Arial" pitchFamily="34" charset="-120"/>
              </a:rPr>
              <a:t>Sumukh Gupta</a:t>
            </a:r>
            <a:endParaRPr lang="en-US" sz="2000" dirty="0"/>
          </a:p>
        </p:txBody>
      </p:sp>
      <p:sp>
        <p:nvSpPr>
          <p:cNvPr id="6" name="Text 3"/>
          <p:cNvSpPr/>
          <p:nvPr/>
        </p:nvSpPr>
        <p:spPr>
          <a:xfrm>
            <a:off x="812750" y="5760742"/>
            <a:ext cx="2603133"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563"/>
                </a:solidFill>
                <a:latin typeface="Arial" pitchFamily="34" charset="0"/>
                <a:ea typeface="Arial" pitchFamily="34" charset="-122"/>
                <a:cs typeface="Arial" pitchFamily="34" charset="-120"/>
              </a:rPr>
              <a:t>S24CSEU0570</a:t>
            </a:r>
            <a:endParaRPr lang="en-US" sz="1600" dirty="0"/>
          </a:p>
        </p:txBody>
      </p:sp>
      <p:sp>
        <p:nvSpPr>
          <p:cNvPr id="7" name="Text 4"/>
          <p:cNvSpPr/>
          <p:nvPr/>
        </p:nvSpPr>
        <p:spPr>
          <a:xfrm>
            <a:off x="3492409" y="5354367"/>
            <a:ext cx="2603196" cy="380993"/>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F2A4A"/>
                </a:solidFill>
                <a:latin typeface="Arial" pitchFamily="34" charset="0"/>
                <a:ea typeface="Arial" pitchFamily="34" charset="-122"/>
                <a:cs typeface="Arial" pitchFamily="34" charset="-120"/>
              </a:rPr>
              <a:t>Aaditya Goel</a:t>
            </a:r>
            <a:endParaRPr lang="en-US" sz="2000" dirty="0"/>
          </a:p>
        </p:txBody>
      </p:sp>
      <p:sp>
        <p:nvSpPr>
          <p:cNvPr id="8" name="Text 5"/>
          <p:cNvSpPr/>
          <p:nvPr/>
        </p:nvSpPr>
        <p:spPr>
          <a:xfrm>
            <a:off x="3492409" y="5760742"/>
            <a:ext cx="2603196"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563"/>
                </a:solidFill>
                <a:latin typeface="Arial" pitchFamily="34" charset="0"/>
                <a:ea typeface="Arial" pitchFamily="34" charset="-122"/>
                <a:cs typeface="Arial" pitchFamily="34" charset="-120"/>
              </a:rPr>
              <a:t>S24CSEU0614</a:t>
            </a:r>
            <a:endParaRPr lang="en-US" sz="1600" dirty="0"/>
          </a:p>
        </p:txBody>
      </p:sp>
      <p:sp>
        <p:nvSpPr>
          <p:cNvPr id="9" name="Text 6"/>
          <p:cNvSpPr/>
          <p:nvPr/>
        </p:nvSpPr>
        <p:spPr>
          <a:xfrm>
            <a:off x="6172129" y="5354367"/>
            <a:ext cx="2603196" cy="380993"/>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F2A4A"/>
                </a:solidFill>
                <a:latin typeface="Arial" pitchFamily="34" charset="0"/>
                <a:ea typeface="Arial" pitchFamily="34" charset="-122"/>
                <a:cs typeface="Arial" pitchFamily="34" charset="-120"/>
              </a:rPr>
              <a:t>Kushika Mishra</a:t>
            </a:r>
            <a:endParaRPr lang="en-US" sz="2000" dirty="0"/>
          </a:p>
        </p:txBody>
      </p:sp>
      <p:sp>
        <p:nvSpPr>
          <p:cNvPr id="10" name="Text 7"/>
          <p:cNvSpPr/>
          <p:nvPr/>
        </p:nvSpPr>
        <p:spPr>
          <a:xfrm>
            <a:off x="6172129" y="5760742"/>
            <a:ext cx="2603196"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563"/>
                </a:solidFill>
                <a:latin typeface="Arial" pitchFamily="34" charset="0"/>
                <a:ea typeface="Arial" pitchFamily="34" charset="-122"/>
                <a:cs typeface="Arial" pitchFamily="34" charset="-120"/>
              </a:rPr>
              <a:t>S24CSEU0652</a:t>
            </a:r>
            <a:endParaRPr lang="en-US" sz="1600" dirty="0"/>
          </a:p>
        </p:txBody>
      </p:sp>
      <p:sp>
        <p:nvSpPr>
          <p:cNvPr id="11" name="Text 8"/>
          <p:cNvSpPr/>
          <p:nvPr/>
        </p:nvSpPr>
        <p:spPr>
          <a:xfrm>
            <a:off x="8851848" y="5354367"/>
            <a:ext cx="2603196" cy="380993"/>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F2A4A"/>
                </a:solidFill>
                <a:latin typeface="Arial" pitchFamily="34" charset="0"/>
                <a:ea typeface="Arial" pitchFamily="34" charset="-122"/>
                <a:cs typeface="Arial" pitchFamily="34" charset="-120"/>
              </a:rPr>
              <a:t>Neya Tripathi</a:t>
            </a:r>
            <a:endParaRPr lang="en-US" sz="2000" dirty="0"/>
          </a:p>
        </p:txBody>
      </p:sp>
      <p:sp>
        <p:nvSpPr>
          <p:cNvPr id="12" name="Text 9"/>
          <p:cNvSpPr/>
          <p:nvPr/>
        </p:nvSpPr>
        <p:spPr>
          <a:xfrm>
            <a:off x="8851848" y="5760742"/>
            <a:ext cx="2603196"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B5563"/>
                </a:solidFill>
                <a:latin typeface="Arial" pitchFamily="34" charset="0"/>
                <a:ea typeface="Arial" pitchFamily="34" charset="-122"/>
                <a:cs typeface="Arial" pitchFamily="34" charset="-120"/>
              </a:rPr>
              <a:t>S24CSEU0609</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2A4A"/>
                </a:solidFill>
                <a:latin typeface="Arial" pitchFamily="34" charset="0"/>
                <a:ea typeface="Arial" pitchFamily="34" charset="-122"/>
                <a:cs typeface="Arial" pitchFamily="34" charset="-120"/>
              </a:rPr>
              <a:t>Problem and Motivation</a:t>
            </a:r>
            <a:endParaRPr lang="en-US" sz="3200" dirty="0"/>
          </a:p>
        </p:txBody>
      </p:sp>
      <p:sp>
        <p:nvSpPr>
          <p:cNvPr id="3" name="Text 1"/>
          <p:cNvSpPr/>
          <p:nvPr/>
        </p:nvSpPr>
        <p:spPr>
          <a:xfrm>
            <a:off x="868884" y="1561615"/>
            <a:ext cx="10819713" cy="3008361"/>
          </a:xfrm>
          <a:prstGeom prst="rect">
            <a:avLst/>
          </a:prstGeom>
          <a:noFill/>
          <a:ln/>
        </p:spPr>
        <p:txBody>
          <a:bodyPr wrap="square" lIns="0" tIns="0" rIns="0" bIns="0" rtlCol="0" anchor="t">
            <a:normAutofit/>
          </a:bodyPr>
          <a:lstStyle/>
          <a:p>
            <a:pPr algn="l" marL="197866" indent="-197866">
              <a:lnSpc>
                <a:spcPts val="2610"/>
              </a:lnSpc>
              <a:buSzPct val="100000"/>
              <a:buChar char="•"/>
            </a:pPr>
            <a:r>
              <a:rPr lang="en-US" sz="1800" dirty="0">
                <a:solidFill>
                  <a:srgbClr val="1F2937"/>
                </a:solidFill>
                <a:latin typeface="Arial" pitchFamily="34" charset="0"/>
                <a:ea typeface="Arial" pitchFamily="34" charset="-122"/>
                <a:cs typeface="Arial" pitchFamily="34" charset="-120"/>
              </a:rPr>
              <a:t>Early warning needs weekly, regional data, but India’s detailed surveillance platform (IHIP) is restricted to health staff.</a:t>
            </a:r>
            <a:endParaRPr lang="en-US" sz="1800" dirty="0"/>
          </a:p>
          <a:p>
            <a:pPr algn="l" marL="197866" indent="-197866">
              <a:lnSpc>
                <a:spcPts val="2610"/>
              </a:lnSpc>
              <a:buSzPct val="100000"/>
              <a:buChar char="•"/>
            </a:pPr>
            <a:r>
              <a:rPr lang="en-US" sz="1800" dirty="0">
                <a:solidFill>
                  <a:srgbClr val="1F2937"/>
                </a:solidFill>
                <a:latin typeface="Arial" pitchFamily="34" charset="0"/>
                <a:ea typeface="Arial" pitchFamily="34" charset="-122"/>
                <a:cs typeface="Arial" pitchFamily="34" charset="-120"/>
              </a:rPr>
              <a:t>NCVBDC publishes only annual state-level totals, too coarse for weekly forecasting.</a:t>
            </a:r>
            <a:endParaRPr lang="en-US" sz="1800" dirty="0"/>
          </a:p>
          <a:p>
            <a:pPr algn="l" marL="197866" indent="-197866">
              <a:lnSpc>
                <a:spcPts val="2610"/>
              </a:lnSpc>
              <a:buSzPct val="100000"/>
              <a:buChar char="•"/>
            </a:pPr>
            <a:r>
              <a:rPr lang="en-US" sz="1800" dirty="0">
                <a:solidFill>
                  <a:srgbClr val="1F2937"/>
                </a:solidFill>
                <a:latin typeface="Arial" pitchFamily="34" charset="0"/>
                <a:ea typeface="Arial" pitchFamily="34" charset="-122"/>
                <a:cs typeface="Arial" pitchFamily="34" charset="-120"/>
              </a:rPr>
              <a:t>The only open weekly source is IDSP’s weekly outbreak reports, digitised as the EpiClim dataset (2009–2022).</a:t>
            </a:r>
            <a:endParaRPr lang="en-US" sz="1800" dirty="0"/>
          </a:p>
          <a:p>
            <a:pPr algn="l" marL="197866" indent="-197866">
              <a:lnSpc>
                <a:spcPts val="2610"/>
              </a:lnSpc>
              <a:buSzPct val="100000"/>
              <a:buChar char="•"/>
            </a:pPr>
            <a:r>
              <a:rPr lang="en-US" sz="1800" dirty="0">
                <a:solidFill>
                  <a:srgbClr val="1F2937"/>
                </a:solidFill>
                <a:latin typeface="Arial" pitchFamily="34" charset="0"/>
                <a:ea typeface="Arial" pitchFamily="34" charset="-122"/>
                <a:cs typeface="Arial" pitchFamily="34" charset="-120"/>
              </a:rPr>
              <a:t>These reports record outbreaks that were </a:t>
            </a:r>
            <a:r>
              <a:rPr lang="en-US" sz="1800" b="1" dirty="0">
                <a:solidFill>
                  <a:srgbClr val="1F2937"/>
                </a:solidFill>
                <a:latin typeface="Arial" pitchFamily="34" charset="0"/>
                <a:ea typeface="Arial" pitchFamily="34" charset="-122"/>
                <a:cs typeface="Arial" pitchFamily="34" charset="-120"/>
              </a:rPr>
              <a:t>reported</a:t>
            </a:r>
            <a:r>
              <a:rPr lang="en-US" sz="1800" dirty="0">
                <a:solidFill>
                  <a:srgbClr val="1F2937"/>
                </a:solidFill>
                <a:latin typeface="Arial" pitchFamily="34" charset="0"/>
                <a:ea typeface="Arial" pitchFamily="34" charset="-122"/>
                <a:cs typeface="Arial" pitchFamily="34" charset="-120"/>
              </a:rPr>
              <a:t>, not infections: a week without a report may mean no outbreak or no filing.</a:t>
            </a:r>
            <a:endParaRPr lang="en-US" sz="1800" dirty="0"/>
          </a:p>
          <a:p>
            <a:pPr algn="l" marL="197866" indent="-197866">
              <a:lnSpc>
                <a:spcPts val="2610"/>
              </a:lnSpc>
              <a:buSzPct val="100000"/>
              <a:buChar char="•"/>
            </a:pPr>
            <a:r>
              <a:rPr lang="en-US" sz="1800" dirty="0">
                <a:solidFill>
                  <a:srgbClr val="1F2937"/>
                </a:solidFill>
                <a:latin typeface="Arial" pitchFamily="34" charset="0"/>
                <a:ea typeface="Arial" pitchFamily="34" charset="-122"/>
                <a:cs typeface="Arial" pitchFamily="34" charset="-120"/>
              </a:rPr>
              <a:t>A 2024 scoping review of AI early-warning systems found most are built for one disease in one region; generalization, lead time, explainability and data quality remain open gaps.</a:t>
            </a:r>
            <a:endParaRPr lang="en-US" sz="1800" dirty="0"/>
          </a:p>
        </p:txBody>
      </p:sp>
      <p:sp>
        <p:nvSpPr>
          <p:cNvPr id="4" name="Text 2"/>
          <p:cNvSpPr/>
          <p:nvPr/>
        </p:nvSpPr>
        <p:spPr>
          <a:xfrm>
            <a:off x="812750" y="4846369"/>
            <a:ext cx="10566473" cy="995588"/>
          </a:xfrm>
          <a:prstGeom prst="roundRect">
            <a:avLst>
              <a:gd name="adj" fmla="val 5103"/>
            </a:avLst>
          </a:prstGeom>
          <a:solidFill>
            <a:srgbClr val="F3F4F6"/>
          </a:solidFill>
          <a:ln/>
        </p:spPr>
        <p:txBody>
          <a:bodyPr wrap="square" lIns="213721" tIns="162921" rIns="0" bIns="137521" rtlCol="0" anchor="t">
            <a:normAutofit/>
          </a:bodyPr>
          <a:lstStyle/>
          <a:p>
            <a:pPr algn="l" indent="0" marL="0">
              <a:lnSpc>
                <a:spcPts val="2520"/>
              </a:lnSpc>
              <a:buNone/>
            </a:pPr>
            <a:r>
              <a:rPr lang="en-US" sz="1800" b="1" dirty="0">
                <a:solidFill>
                  <a:srgbClr val="0F2A4A"/>
                </a:solidFill>
                <a:latin typeface="Arial" pitchFamily="34" charset="0"/>
                <a:ea typeface="Arial" pitchFamily="34" charset="-122"/>
                <a:cs typeface="Arial" pitchFamily="34" charset="-120"/>
              </a:rPr>
              <a:t>This project: forecast whether an outbreak will be reported to IDSP in a state, 1–4 weeks ahead, and test whether one pipeline generalizes across states and diseases.</a:t>
            </a:r>
            <a:endParaRPr lang="en-US" sz="1800" dirty="0"/>
          </a:p>
        </p:txBody>
      </p:sp>
      <p:sp>
        <p:nvSpPr>
          <p:cNvPr id="5" name="Text 3"/>
          <p:cNvSpPr/>
          <p:nvPr/>
        </p:nvSpPr>
        <p:spPr>
          <a:xfrm>
            <a:off x="10058456" y="6238248"/>
            <a:ext cx="1320767"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2A4A"/>
                </a:solidFill>
                <a:latin typeface="Arial" pitchFamily="34" charset="0"/>
                <a:ea typeface="Arial" pitchFamily="34" charset="-122"/>
                <a:cs typeface="Arial" pitchFamily="34" charset="-120"/>
              </a:rPr>
              <a:t>Research Question and Hypotheses</a:t>
            </a:r>
            <a:endParaRPr lang="en-US" sz="3200" dirty="0"/>
          </a:p>
        </p:txBody>
      </p:sp>
      <p:sp>
        <p:nvSpPr>
          <p:cNvPr id="3" name="Text 1"/>
          <p:cNvSpPr/>
          <p:nvPr/>
        </p:nvSpPr>
        <p:spPr>
          <a:xfrm>
            <a:off x="812750" y="1576591"/>
            <a:ext cx="10883467" cy="665456"/>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2937"/>
                </a:solidFill>
                <a:latin typeface="Arial" pitchFamily="34" charset="0"/>
                <a:ea typeface="Arial" pitchFamily="34" charset="-122"/>
                <a:cs typeface="Arial" pitchFamily="34" charset="-120"/>
              </a:rPr>
              <a:t>Research question:</a:t>
            </a:r>
            <a:r>
              <a:rPr lang="en-US" sz="1800" dirty="0">
                <a:solidFill>
                  <a:srgbClr val="1F2937"/>
                </a:solidFill>
                <a:latin typeface="Arial" pitchFamily="34" charset="0"/>
                <a:ea typeface="Arial" pitchFamily="34" charset="-122"/>
                <a:cs typeface="Arial" pitchFamily="34" charset="-120"/>
              </a:rPr>
              <a:t> Can one pipeline forecast whether an outbreak will be reported to IDSP in an Indian state 1–4 weeks ahead, and does it generalize across states and diseases?</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3" y="2545067"/>
          <a:ext cx="10554879" cy="2446643"/>
        </p:xfrm>
        <a:graphic>
          <a:graphicData uri="http://schemas.openxmlformats.org/drawingml/2006/table">
            <a:tbl>
              <a:tblPr/>
              <a:tblGrid>
                <a:gridCol w="844390"/>
                <a:gridCol w="5066342"/>
                <a:gridCol w="4644147"/>
              </a:tblGrid>
              <a:tr h="411628">
                <a:tc>
                  <a:txBody>
                    <a:bodyPr/>
                    <a:lstStyle/>
                    <a:p>
                      <a:pPr indent="0" marL="0">
                        <a:lnSpc>
                          <a:spcPts val="2100"/>
                        </a:lnSpc>
                        <a:buNone/>
                      </a:pPr>
                      <a:r>
                        <a:rPr lang="en-US" sz="1500" b="1" dirty="0">
                          <a:solidFill>
                            <a:srgbClr val="1F2937"/>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c>
                  <a:txBody>
                    <a:bodyPr/>
                    <a:lstStyle/>
                    <a:p>
                      <a:pPr indent="0" marL="0">
                        <a:lnSpc>
                          <a:spcPts val="2100"/>
                        </a:lnSpc>
                        <a:buNone/>
                      </a:pPr>
                      <a:r>
                        <a:rPr lang="en-US" sz="1500" b="1" dirty="0">
                          <a:solidFill>
                            <a:srgbClr val="1F2937"/>
                          </a:solidFill>
                          <a:latin typeface="Arial" pitchFamily="34" charset="0"/>
                          <a:ea typeface="Arial" pitchFamily="34" charset="-122"/>
                          <a:cs typeface="Arial" pitchFamily="34" charset="-120"/>
                        </a:rPr>
                        <a:t>Hypothesis</a:t>
                      </a:r>
                      <a:endParaRPr lang="en-US" sz="1500" dirty="0">
                        <a:latin typeface="Arial" charset="0"/>
                        <a:ea typeface="Arial" charset="0"/>
                        <a:cs typeface="Arial" charset="0"/>
                      </a:endParaRPr>
                    </a:p>
                  </a:txBody>
                  <a:tcPr marL="66675" marR="66675" marT="66675" marB="66675" anchor="t">
                    <a:lnL w="12700" cap="flat" cmpd="sng" algn="ctr">
                      <a:solidFill>
                        <a:srgbClr val="B7B9B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c>
                  <a:txBody>
                    <a:bodyPr/>
                    <a:lstStyle/>
                    <a:p>
                      <a:pPr indent="0" marL="0">
                        <a:lnSpc>
                          <a:spcPts val="2100"/>
                        </a:lnSpc>
                        <a:buNone/>
                      </a:pPr>
                      <a:r>
                        <a:rPr lang="en-US" sz="1500" b="1" dirty="0">
                          <a:solidFill>
                            <a:srgbClr val="1F2937"/>
                          </a:solidFill>
                          <a:latin typeface="Arial" pitchFamily="34" charset="0"/>
                          <a:ea typeface="Arial" pitchFamily="34" charset="-122"/>
                          <a:cs typeface="Arial" pitchFamily="34" charset="-120"/>
                        </a:rPr>
                        <a:t>How it is tested</a:t>
                      </a:r>
                      <a:endParaRPr lang="en-US" sz="1500" dirty="0">
                        <a:latin typeface="Arial" charset="0"/>
                        <a:ea typeface="Arial" charset="0"/>
                        <a:cs typeface="Arial" charset="0"/>
                      </a:endParaRPr>
                    </a:p>
                  </a:txBody>
                  <a:tcPr marL="66675" marR="66675" marT="66675" marB="66675" anchor="t">
                    <a:lnL w="12700" cap="flat" cmpd="sng" algn="ctr">
                      <a:solidFill>
                        <a:srgbClr val="B7B9B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r>
              <a:tr h="678338">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H1</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Climate (temperature, rainfall, humidity) improves forecasts over reporting history alone</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Ablation: with vs. without climate features</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78338">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H2</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One pipeline gives useful forecasts across state–disease combinations</a:t>
                      </a:r>
                      <a:endParaRPr lang="en-US" sz="1500" dirty="0">
                        <a:latin typeface="Arial" charset="0"/>
                        <a:ea typeface="Arial" charset="0"/>
                        <a:cs typeface="Arial" charset="0"/>
                      </a:endParaRPr>
                    </a:p>
                  </a:txBody>
                  <a:tcPr marL="66675" marR="66675" marT="66675" marB="66675"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Same pipeline on 7 combinations; count results above chance</a:t>
                      </a:r>
                      <a:endParaRPr lang="en-US" sz="1500" dirty="0">
                        <a:latin typeface="Arial" charset="0"/>
                        <a:ea typeface="Arial" charset="0"/>
                        <a:cs typeface="Arial" charset="0"/>
                      </a:endParaRPr>
                    </a:p>
                  </a:txBody>
                  <a:tcPr marL="66675" marR="66675" marT="66675" marB="66675"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r>
              <a:tr h="678338">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H3</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Explainable AI identifies the drivers of predicted risk</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SHAP values, cross-checked with permutation importance</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750" y="5308536"/>
            <a:ext cx="10883467" cy="55882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B5563"/>
                </a:solidFill>
                <a:latin typeface="Arial" pitchFamily="34" charset="0"/>
                <a:ea typeface="Arial" pitchFamily="34" charset="-122"/>
                <a:cs typeface="Arial" pitchFamily="34" charset="-120"/>
              </a:rPr>
              <a:t>Scope:</a:t>
            </a:r>
            <a:r>
              <a:rPr lang="en-US" sz="1500" dirty="0">
                <a:solidFill>
                  <a:srgbClr val="4B5563"/>
                </a:solidFill>
                <a:latin typeface="Arial" pitchFamily="34" charset="0"/>
                <a:ea typeface="Arial" pitchFamily="34" charset="-122"/>
                <a:cs typeface="Arial" pitchFamily="34" charset="-120"/>
              </a:rPr>
              <a:t> dengue (Maharashtra, Kerala) and acute diarrhoeal disease, ADD (Karnataka, Maharashtra, West Bengal, Gujarat, Odisha).</a:t>
            </a:r>
            <a:endParaRPr lang="en-US" sz="1500" dirty="0"/>
          </a:p>
        </p:txBody>
      </p:sp>
      <p:sp>
        <p:nvSpPr>
          <p:cNvPr id="6" name="Text 3"/>
          <p:cNvSpPr/>
          <p:nvPr/>
        </p:nvSpPr>
        <p:spPr>
          <a:xfrm>
            <a:off x="10058456" y="6238249"/>
            <a:ext cx="1320767"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50" y="812749"/>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2A4A"/>
                </a:solidFill>
                <a:latin typeface="Arial" pitchFamily="34" charset="0"/>
                <a:ea typeface="Arial" pitchFamily="34" charset="-122"/>
                <a:cs typeface="Arial" pitchFamily="34" charset="-120"/>
              </a:rPr>
              <a:t>Dataset and Preprocessing</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4343" y="1576106"/>
          <a:ext cx="10554879" cy="3790035"/>
        </p:xfrm>
        <a:graphic>
          <a:graphicData uri="http://schemas.openxmlformats.org/drawingml/2006/table">
            <a:tbl>
              <a:tblPr/>
              <a:tblGrid>
                <a:gridCol w="1899878"/>
                <a:gridCol w="8655001"/>
              </a:tblGrid>
              <a:tr h="438197">
                <a:tc>
                  <a:txBody>
                    <a:bodyPr/>
                    <a:lstStyle/>
                    <a:p>
                      <a:pPr indent="0" marL="0">
                        <a:lnSpc>
                          <a:spcPts val="2240"/>
                        </a:lnSpc>
                        <a:buNone/>
                      </a:pPr>
                      <a:r>
                        <a:rPr lang="en-US" sz="1600" b="1" dirty="0">
                          <a:solidFill>
                            <a:srgbClr val="1F2937"/>
                          </a:solidFill>
                          <a:latin typeface="Arial" pitchFamily="34" charset="0"/>
                          <a:ea typeface="Arial" pitchFamily="34" charset="-122"/>
                          <a:cs typeface="Arial" pitchFamily="34" charset="-120"/>
                        </a:rPr>
                        <a:t>Aspect</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c>
                  <a:txBody>
                    <a:bodyPr/>
                    <a:lstStyle/>
                    <a:p>
                      <a:pPr indent="0" marL="0">
                        <a:lnSpc>
                          <a:spcPts val="2240"/>
                        </a:lnSpc>
                        <a:buNone/>
                      </a:pPr>
                      <a:r>
                        <a:rPr lang="en-US" sz="1600" b="1" dirty="0">
                          <a:solidFill>
                            <a:srgbClr val="1F2937"/>
                          </a:solidFill>
                          <a:latin typeface="Arial" pitchFamily="34" charset="0"/>
                          <a:ea typeface="Arial" pitchFamily="34" charset="-122"/>
                          <a:cs typeface="Arial" pitchFamily="34" charset="-120"/>
                        </a:rPr>
                        <a:t>Detail</a:t>
                      </a:r>
                      <a:endParaRPr lang="en-US" sz="1600" dirty="0">
                        <a:latin typeface="Arial" charset="0"/>
                        <a:ea typeface="Arial" charset="0"/>
                        <a:cs typeface="Arial" charset="0"/>
                      </a:endParaRPr>
                    </a:p>
                  </a:txBody>
                  <a:tcPr marL="71120" marR="71120" marT="71120" marB="71120" anchor="t">
                    <a:lnL w="12700" cap="flat" cmpd="sng" algn="ctr">
                      <a:solidFill>
                        <a:srgbClr val="B7B9B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r>
              <a:tr h="438197">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Source</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EpiClim: 8,985 IDSP outbreak records, 4 May 2009 – 29 Jun 2022</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8197">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Unit</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State × ISO week (731 weeks); districts too sparse (best: 29 dengue year-weeks)</a:t>
                      </a:r>
                      <a:endParaRPr lang="en-US" sz="1600" dirty="0">
                        <a:latin typeface="Arial" charset="0"/>
                        <a:ea typeface="Arial" charset="0"/>
                        <a:cs typeface="Arial" charset="0"/>
                      </a:endParaRPr>
                    </a:p>
                  </a:txBody>
                  <a:tcPr marL="71120" marR="71120" marT="71120" marB="7112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r>
              <a:tr h="438197">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Target</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At least one outbreak report in the week; unreported case counts kept missing</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8197">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Cleaning</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Label variants merged; 1,098 same-week reports in 497 groups summed</a:t>
                      </a:r>
                      <a:endParaRPr lang="en-US" sz="1600" dirty="0">
                        <a:latin typeface="Arial" charset="0"/>
                        <a:ea typeface="Arial" charset="0"/>
                        <a:cs typeface="Arial" charset="0"/>
                      </a:endParaRPr>
                    </a:p>
                  </a:txBody>
                  <a:tcPr marL="71120" marR="71120" marT="71120" marB="7112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r>
              <a:tr h="438197">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Climate</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EpiClim climate implausible (−11.85 °C, Assam); rebuilt from NASA POWER</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8197">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2020</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Excluded: reporting fell 50–75% everywhere (Karnataka dengue 42.3% → 11.3%)</a:t>
                      </a:r>
                      <a:endParaRPr lang="en-US" sz="1600" dirty="0">
                        <a:latin typeface="Arial" charset="0"/>
                        <a:ea typeface="Arial" charset="0"/>
                        <a:cs typeface="Arial" charset="0"/>
                      </a:endParaRPr>
                    </a:p>
                  </a:txBody>
                  <a:tcPr marL="71120" marR="71120" marT="71120" marB="7112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r>
              <a:tr h="722659">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Dropped</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Malaria, cholera; West Bengal dengue (7 weeks, 2019–22); Tamil Nadu dengue (9 test positives)</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Text 1"/>
          <p:cNvSpPr/>
          <p:nvPr/>
        </p:nvSpPr>
        <p:spPr>
          <a:xfrm>
            <a:off x="10058456" y="6238249"/>
            <a:ext cx="1320767"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2A4A"/>
                </a:solidFill>
                <a:latin typeface="Arial" pitchFamily="34" charset="0"/>
                <a:ea typeface="Arial" pitchFamily="34" charset="-122"/>
                <a:cs typeface="Arial" pitchFamily="34" charset="-120"/>
              </a:rPr>
              <a:t>Methodology</a:t>
            </a:r>
            <a:endParaRPr lang="en-US" sz="3200" dirty="0"/>
          </a:p>
        </p:txBody>
      </p:sp>
      <p:sp>
        <p:nvSpPr>
          <p:cNvPr id="3" name="Shape 1"/>
          <p:cNvSpPr/>
          <p:nvPr/>
        </p:nvSpPr>
        <p:spPr>
          <a:xfrm>
            <a:off x="819100" y="2063043"/>
            <a:ext cx="1409793" cy="1207995"/>
          </a:xfrm>
          <a:prstGeom prst="roundRect">
            <a:avLst>
              <a:gd name="adj" fmla="val 3680"/>
            </a:avLst>
          </a:prstGeom>
          <a:noFill/>
          <a:ln w="12700">
            <a:solidFill>
              <a:srgbClr val="0F2A4A"/>
            </a:solidFill>
            <a:prstDash val="solid"/>
          </a:ln>
        </p:spPr>
      </p:sp>
      <p:sp>
        <p:nvSpPr>
          <p:cNvPr id="4" name="Text 2"/>
          <p:cNvSpPr/>
          <p:nvPr/>
        </p:nvSpPr>
        <p:spPr>
          <a:xfrm>
            <a:off x="951328" y="2195271"/>
            <a:ext cx="1196137" cy="27435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A4A"/>
                </a:solidFill>
                <a:latin typeface="Arial" pitchFamily="34" charset="0"/>
                <a:ea typeface="Arial" pitchFamily="34" charset="-122"/>
                <a:cs typeface="Arial" pitchFamily="34" charset="-120"/>
              </a:rPr>
              <a:t>Data</a:t>
            </a:r>
            <a:endParaRPr lang="en-US" sz="1400" dirty="0"/>
          </a:p>
        </p:txBody>
      </p:sp>
      <p:sp>
        <p:nvSpPr>
          <p:cNvPr id="5" name="Text 3"/>
          <p:cNvSpPr/>
          <p:nvPr/>
        </p:nvSpPr>
        <p:spPr>
          <a:xfrm>
            <a:off x="951328" y="2495010"/>
            <a:ext cx="1196137" cy="45460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F2937"/>
                </a:solidFill>
                <a:latin typeface="Arial" pitchFamily="34" charset="0"/>
                <a:ea typeface="Arial" pitchFamily="34" charset="-122"/>
                <a:cs typeface="Arial" pitchFamily="34" charset="-120"/>
              </a:rPr>
              <a:t>IDSP reports via EpiClim</a:t>
            </a:r>
            <a:endParaRPr lang="en-US" sz="1300" dirty="0"/>
          </a:p>
        </p:txBody>
      </p:sp>
      <p:pic>
        <p:nvPicPr>
          <p:cNvPr id="6" name="Image 0" descr="arrow-right">    </p:cNvPr>
          <p:cNvPicPr>
            <a:picLocks noChangeAspect="1"/>
          </p:cNvPicPr>
          <p:nvPr/>
        </p:nvPicPr>
        <p:blipFill>
          <a:blip r:embed="rId1"/>
          <a:srcRect l="-12" r="-12" t="0" b="0"/>
          <a:stretch/>
        </p:blipFill>
        <p:spPr>
          <a:xfrm>
            <a:off x="2311386" y="2590837"/>
            <a:ext cx="253969" cy="152345"/>
          </a:xfrm>
          <a:prstGeom prst="rect">
            <a:avLst/>
          </a:prstGeom>
        </p:spPr>
      </p:pic>
      <p:sp>
        <p:nvSpPr>
          <p:cNvPr id="7" name="Shape 4"/>
          <p:cNvSpPr/>
          <p:nvPr/>
        </p:nvSpPr>
        <p:spPr>
          <a:xfrm>
            <a:off x="2647847" y="2063043"/>
            <a:ext cx="1409854" cy="1207995"/>
          </a:xfrm>
          <a:prstGeom prst="roundRect">
            <a:avLst>
              <a:gd name="adj" fmla="val 3680"/>
            </a:avLst>
          </a:prstGeom>
          <a:noFill/>
          <a:ln w="12700">
            <a:solidFill>
              <a:srgbClr val="0F2A4A"/>
            </a:solidFill>
            <a:prstDash val="solid"/>
          </a:ln>
        </p:spPr>
      </p:sp>
      <p:sp>
        <p:nvSpPr>
          <p:cNvPr id="8" name="Text 5"/>
          <p:cNvSpPr/>
          <p:nvPr/>
        </p:nvSpPr>
        <p:spPr>
          <a:xfrm>
            <a:off x="2780075" y="2195271"/>
            <a:ext cx="1196198" cy="27435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A4A"/>
                </a:solidFill>
                <a:latin typeface="Arial" pitchFamily="34" charset="0"/>
                <a:ea typeface="Arial" pitchFamily="34" charset="-122"/>
                <a:cs typeface="Arial" pitchFamily="34" charset="-120"/>
              </a:rPr>
              <a:t>Cleaning</a:t>
            </a:r>
            <a:endParaRPr lang="en-US" sz="1400" dirty="0"/>
          </a:p>
        </p:txBody>
      </p:sp>
      <p:sp>
        <p:nvSpPr>
          <p:cNvPr id="9" name="Text 6"/>
          <p:cNvSpPr/>
          <p:nvPr/>
        </p:nvSpPr>
        <p:spPr>
          <a:xfrm>
            <a:off x="2780075" y="2495010"/>
            <a:ext cx="1196198" cy="45460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F2937"/>
                </a:solidFill>
                <a:latin typeface="Arial" pitchFamily="34" charset="0"/>
                <a:ea typeface="Arial" pitchFamily="34" charset="-122"/>
                <a:cs typeface="Arial" pitchFamily="34" charset="-120"/>
              </a:rPr>
              <a:t>State × ISO-week grid</a:t>
            </a:r>
            <a:endParaRPr lang="en-US" sz="1300" dirty="0"/>
          </a:p>
        </p:txBody>
      </p:sp>
      <p:pic>
        <p:nvPicPr>
          <p:cNvPr id="10" name="Image 1" descr="arrow-right">    </p:cNvPr>
          <p:cNvPicPr>
            <a:picLocks noChangeAspect="1"/>
          </p:cNvPicPr>
          <p:nvPr/>
        </p:nvPicPr>
        <p:blipFill>
          <a:blip r:embed="rId2"/>
          <a:srcRect l="-12" r="-12" t="0" b="0"/>
          <a:stretch/>
        </p:blipFill>
        <p:spPr>
          <a:xfrm>
            <a:off x="4140194" y="2590837"/>
            <a:ext cx="253969" cy="152345"/>
          </a:xfrm>
          <a:prstGeom prst="rect">
            <a:avLst/>
          </a:prstGeom>
        </p:spPr>
      </p:pic>
      <p:sp>
        <p:nvSpPr>
          <p:cNvPr id="11" name="Shape 7"/>
          <p:cNvSpPr/>
          <p:nvPr/>
        </p:nvSpPr>
        <p:spPr>
          <a:xfrm>
            <a:off x="4476655" y="2063043"/>
            <a:ext cx="1409793" cy="1207995"/>
          </a:xfrm>
          <a:prstGeom prst="roundRect">
            <a:avLst>
              <a:gd name="adj" fmla="val 3680"/>
            </a:avLst>
          </a:prstGeom>
          <a:noFill/>
          <a:ln w="12700">
            <a:solidFill>
              <a:srgbClr val="0F2A4A"/>
            </a:solidFill>
            <a:prstDash val="solid"/>
          </a:ln>
        </p:spPr>
      </p:sp>
      <p:sp>
        <p:nvSpPr>
          <p:cNvPr id="12" name="Text 8"/>
          <p:cNvSpPr/>
          <p:nvPr/>
        </p:nvSpPr>
        <p:spPr>
          <a:xfrm>
            <a:off x="4608883" y="2195271"/>
            <a:ext cx="1196137" cy="27435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A4A"/>
                </a:solidFill>
                <a:latin typeface="Arial" pitchFamily="34" charset="0"/>
                <a:ea typeface="Arial" pitchFamily="34" charset="-122"/>
                <a:cs typeface="Arial" pitchFamily="34" charset="-120"/>
              </a:rPr>
              <a:t>Climate</a:t>
            </a:r>
            <a:endParaRPr lang="en-US" sz="1400" dirty="0"/>
          </a:p>
        </p:txBody>
      </p:sp>
      <p:sp>
        <p:nvSpPr>
          <p:cNvPr id="13" name="Text 9"/>
          <p:cNvSpPr/>
          <p:nvPr/>
        </p:nvSpPr>
        <p:spPr>
          <a:xfrm>
            <a:off x="4608883" y="2495010"/>
            <a:ext cx="1196137" cy="66919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F2937"/>
                </a:solidFill>
                <a:latin typeface="Arial" pitchFamily="34" charset="0"/>
                <a:ea typeface="Arial" pitchFamily="34" charset="-122"/>
                <a:cs typeface="Arial" pitchFamily="34" charset="-120"/>
              </a:rPr>
              <a:t>NASA POWER, lags 0–4</a:t>
            </a:r>
            <a:endParaRPr lang="en-US" sz="1300" dirty="0"/>
          </a:p>
        </p:txBody>
      </p:sp>
      <p:pic>
        <p:nvPicPr>
          <p:cNvPr id="14" name="Image 2" descr="arrow-right">    </p:cNvPr>
          <p:cNvPicPr>
            <a:picLocks noChangeAspect="1"/>
          </p:cNvPicPr>
          <p:nvPr/>
        </p:nvPicPr>
        <p:blipFill>
          <a:blip r:embed="rId3"/>
          <a:srcRect l="-12" r="-12" t="0" b="0"/>
          <a:stretch/>
        </p:blipFill>
        <p:spPr>
          <a:xfrm>
            <a:off x="5968941" y="2590837"/>
            <a:ext cx="253969" cy="152345"/>
          </a:xfrm>
          <a:prstGeom prst="rect">
            <a:avLst/>
          </a:prstGeom>
        </p:spPr>
      </p:pic>
      <p:sp>
        <p:nvSpPr>
          <p:cNvPr id="15" name="Shape 10"/>
          <p:cNvSpPr/>
          <p:nvPr/>
        </p:nvSpPr>
        <p:spPr>
          <a:xfrm>
            <a:off x="6305403" y="2063043"/>
            <a:ext cx="1409854" cy="1207995"/>
          </a:xfrm>
          <a:prstGeom prst="roundRect">
            <a:avLst>
              <a:gd name="adj" fmla="val 3680"/>
            </a:avLst>
          </a:prstGeom>
          <a:noFill/>
          <a:ln w="12700">
            <a:solidFill>
              <a:srgbClr val="0F2A4A"/>
            </a:solidFill>
            <a:prstDash val="solid"/>
          </a:ln>
        </p:spPr>
      </p:sp>
      <p:sp>
        <p:nvSpPr>
          <p:cNvPr id="16" name="Text 11"/>
          <p:cNvSpPr/>
          <p:nvPr/>
        </p:nvSpPr>
        <p:spPr>
          <a:xfrm>
            <a:off x="6437631" y="2195271"/>
            <a:ext cx="1196198" cy="27435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A4A"/>
                </a:solidFill>
                <a:latin typeface="Arial" pitchFamily="34" charset="0"/>
                <a:ea typeface="Arial" pitchFamily="34" charset="-122"/>
                <a:cs typeface="Arial" pitchFamily="34" charset="-120"/>
              </a:rPr>
              <a:t>Features</a:t>
            </a:r>
            <a:endParaRPr lang="en-US" sz="1400" dirty="0"/>
          </a:p>
        </p:txBody>
      </p:sp>
      <p:sp>
        <p:nvSpPr>
          <p:cNvPr id="17" name="Text 12"/>
          <p:cNvSpPr/>
          <p:nvPr/>
        </p:nvSpPr>
        <p:spPr>
          <a:xfrm>
            <a:off x="6437631" y="2495010"/>
            <a:ext cx="1196198" cy="66919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F2937"/>
                </a:solidFill>
                <a:latin typeface="Arial" pitchFamily="34" charset="0"/>
                <a:ea typeface="Arial" pitchFamily="34" charset="-122"/>
                <a:cs typeface="Arial" pitchFamily="34" charset="-120"/>
              </a:rPr>
              <a:t>Lags, rolling rates, seasonality</a:t>
            </a:r>
            <a:endParaRPr lang="en-US" sz="1300" dirty="0"/>
          </a:p>
        </p:txBody>
      </p:sp>
      <p:pic>
        <p:nvPicPr>
          <p:cNvPr id="18" name="Image 3" descr="arrow-right">    </p:cNvPr>
          <p:cNvPicPr>
            <a:picLocks noChangeAspect="1"/>
          </p:cNvPicPr>
          <p:nvPr/>
        </p:nvPicPr>
        <p:blipFill>
          <a:blip r:embed="rId4"/>
          <a:srcRect l="-12" r="-12" t="0" b="0"/>
          <a:stretch/>
        </p:blipFill>
        <p:spPr>
          <a:xfrm>
            <a:off x="7797750" y="2590837"/>
            <a:ext cx="253969" cy="152345"/>
          </a:xfrm>
          <a:prstGeom prst="rect">
            <a:avLst/>
          </a:prstGeom>
        </p:spPr>
      </p:pic>
      <p:sp>
        <p:nvSpPr>
          <p:cNvPr id="19" name="Shape 13"/>
          <p:cNvSpPr/>
          <p:nvPr/>
        </p:nvSpPr>
        <p:spPr>
          <a:xfrm>
            <a:off x="8134211" y="2063043"/>
            <a:ext cx="1409854" cy="1207995"/>
          </a:xfrm>
          <a:prstGeom prst="roundRect">
            <a:avLst>
              <a:gd name="adj" fmla="val 3680"/>
            </a:avLst>
          </a:prstGeom>
          <a:noFill/>
          <a:ln w="12700">
            <a:solidFill>
              <a:srgbClr val="0F2A4A"/>
            </a:solidFill>
            <a:prstDash val="solid"/>
          </a:ln>
        </p:spPr>
      </p:sp>
      <p:sp>
        <p:nvSpPr>
          <p:cNvPr id="20" name="Text 14"/>
          <p:cNvSpPr/>
          <p:nvPr/>
        </p:nvSpPr>
        <p:spPr>
          <a:xfrm>
            <a:off x="8266439" y="2195271"/>
            <a:ext cx="1196198" cy="27435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A4A"/>
                </a:solidFill>
                <a:latin typeface="Arial" pitchFamily="34" charset="0"/>
                <a:ea typeface="Arial" pitchFamily="34" charset="-122"/>
                <a:cs typeface="Arial" pitchFamily="34" charset="-120"/>
              </a:rPr>
              <a:t>Models</a:t>
            </a:r>
            <a:endParaRPr lang="en-US" sz="1400" dirty="0"/>
          </a:p>
        </p:txBody>
      </p:sp>
      <p:sp>
        <p:nvSpPr>
          <p:cNvPr id="21" name="Text 15"/>
          <p:cNvSpPr/>
          <p:nvPr/>
        </p:nvSpPr>
        <p:spPr>
          <a:xfrm>
            <a:off x="8266439" y="2495010"/>
            <a:ext cx="1196198" cy="45460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F2937"/>
                </a:solidFill>
                <a:latin typeface="Arial" pitchFamily="34" charset="0"/>
                <a:ea typeface="Arial" pitchFamily="34" charset="-122"/>
                <a:cs typeface="Arial" pitchFamily="34" charset="-120"/>
              </a:rPr>
              <a:t>2 baselines + 4 models</a:t>
            </a:r>
            <a:endParaRPr lang="en-US" sz="1300" dirty="0"/>
          </a:p>
        </p:txBody>
      </p:sp>
      <p:pic>
        <p:nvPicPr>
          <p:cNvPr id="22" name="Image 4" descr="arrow-right">    </p:cNvPr>
          <p:cNvPicPr>
            <a:picLocks noChangeAspect="1"/>
          </p:cNvPicPr>
          <p:nvPr/>
        </p:nvPicPr>
        <p:blipFill>
          <a:blip r:embed="rId5"/>
          <a:srcRect l="-12" r="-12" t="0" b="0"/>
          <a:stretch/>
        </p:blipFill>
        <p:spPr>
          <a:xfrm>
            <a:off x="9626557" y="2590837"/>
            <a:ext cx="253969" cy="152345"/>
          </a:xfrm>
          <a:prstGeom prst="rect">
            <a:avLst/>
          </a:prstGeom>
        </p:spPr>
      </p:pic>
      <p:sp>
        <p:nvSpPr>
          <p:cNvPr id="23" name="Shape 16"/>
          <p:cNvSpPr/>
          <p:nvPr/>
        </p:nvSpPr>
        <p:spPr>
          <a:xfrm>
            <a:off x="9963019" y="2063043"/>
            <a:ext cx="1409854" cy="1207995"/>
          </a:xfrm>
          <a:prstGeom prst="roundRect">
            <a:avLst>
              <a:gd name="adj" fmla="val 3680"/>
            </a:avLst>
          </a:prstGeom>
          <a:noFill/>
          <a:ln w="12700">
            <a:solidFill>
              <a:srgbClr val="0F2A4A"/>
            </a:solidFill>
            <a:prstDash val="solid"/>
          </a:ln>
        </p:spPr>
      </p:sp>
      <p:sp>
        <p:nvSpPr>
          <p:cNvPr id="24" name="Text 17"/>
          <p:cNvSpPr/>
          <p:nvPr/>
        </p:nvSpPr>
        <p:spPr>
          <a:xfrm>
            <a:off x="10095247" y="2195271"/>
            <a:ext cx="1196198" cy="27435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A4A"/>
                </a:solidFill>
                <a:latin typeface="Arial" pitchFamily="34" charset="0"/>
                <a:ea typeface="Arial" pitchFamily="34" charset="-122"/>
                <a:cs typeface="Arial" pitchFamily="34" charset="-120"/>
              </a:rPr>
              <a:t>Evaluation</a:t>
            </a:r>
            <a:endParaRPr lang="en-US" sz="1400" dirty="0"/>
          </a:p>
        </p:txBody>
      </p:sp>
      <p:sp>
        <p:nvSpPr>
          <p:cNvPr id="25" name="Text 18"/>
          <p:cNvSpPr/>
          <p:nvPr/>
        </p:nvSpPr>
        <p:spPr>
          <a:xfrm>
            <a:off x="10095247" y="2495010"/>
            <a:ext cx="1196198" cy="66919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F2937"/>
                </a:solidFill>
                <a:latin typeface="Arial" pitchFamily="34" charset="0"/>
                <a:ea typeface="Arial" pitchFamily="34" charset="-122"/>
                <a:cs typeface="Arial" pitchFamily="34" charset="-120"/>
              </a:rPr>
              <a:t>PR-AUC, bootstrap CI, SHAP</a:t>
            </a:r>
            <a:endParaRPr lang="en-US" sz="1300" dirty="0"/>
          </a:p>
        </p:txBody>
      </p:sp>
      <p:sp>
        <p:nvSpPr>
          <p:cNvPr id="26" name="Text 19"/>
          <p:cNvSpPr/>
          <p:nvPr/>
        </p:nvSpPr>
        <p:spPr>
          <a:xfrm>
            <a:off x="889458" y="4074316"/>
            <a:ext cx="10799139" cy="1793040"/>
          </a:xfrm>
          <a:prstGeom prst="rect">
            <a:avLst/>
          </a:prstGeom>
          <a:noFill/>
          <a:ln/>
        </p:spPr>
        <p:txBody>
          <a:bodyPr wrap="square" lIns="0" tIns="0" rIns="0" bIns="0" rtlCol="0" anchor="t">
            <a:normAutofit/>
          </a:bodyPr>
          <a:lstStyle/>
          <a:p>
            <a:pPr algn="l" marL="177292" indent="-177292">
              <a:lnSpc>
                <a:spcPts val="2320"/>
              </a:lnSpc>
              <a:buSzPct val="100000"/>
              <a:buChar char="•"/>
            </a:pPr>
            <a:r>
              <a:rPr lang="en-US" sz="1600" b="1" dirty="0">
                <a:solidFill>
                  <a:srgbClr val="1F2937"/>
                </a:solidFill>
                <a:latin typeface="Arial" pitchFamily="34" charset="0"/>
                <a:ea typeface="Arial" pitchFamily="34" charset="-122"/>
                <a:cs typeface="Arial" pitchFamily="34" charset="-120"/>
              </a:rPr>
              <a:t>Target:</a:t>
            </a:r>
            <a:r>
              <a:rPr lang="en-US" sz="1600" dirty="0">
                <a:solidFill>
                  <a:srgbClr val="1F2937"/>
                </a:solidFill>
                <a:latin typeface="Arial" pitchFamily="34" charset="0"/>
                <a:ea typeface="Arial" pitchFamily="34" charset="-122"/>
                <a:cs typeface="Arial" pitchFamily="34" charset="-120"/>
              </a:rPr>
              <a:t> outbreak reported in week t + h, for h = 1, 2, 3, 4 weeks. The target is shifted; features are never shifted forward.</a:t>
            </a:r>
            <a:endParaRPr lang="en-US" sz="1600" dirty="0"/>
          </a:p>
          <a:p>
            <a:pPr algn="l" marL="177292" indent="-177292">
              <a:lnSpc>
                <a:spcPts val="2320"/>
              </a:lnSpc>
              <a:buSzPct val="100000"/>
              <a:buChar char="•"/>
            </a:pPr>
            <a:r>
              <a:rPr lang="en-US" sz="1600" b="1" dirty="0">
                <a:solidFill>
                  <a:srgbClr val="1F2937"/>
                </a:solidFill>
                <a:latin typeface="Arial" pitchFamily="34" charset="0"/>
                <a:ea typeface="Arial" pitchFamily="34" charset="-122"/>
                <a:cs typeface="Arial" pitchFamily="34" charset="-120"/>
              </a:rPr>
              <a:t>Leakage check:</a:t>
            </a:r>
            <a:r>
              <a:rPr lang="en-US" sz="1600" dirty="0">
                <a:solidFill>
                  <a:srgbClr val="1F2937"/>
                </a:solidFill>
                <a:latin typeface="Arial" pitchFamily="34" charset="0"/>
                <a:ea typeface="Arial" pitchFamily="34" charset="-122"/>
                <a:cs typeface="Arial" pitchFamily="34" charset="-120"/>
              </a:rPr>
              <a:t> an assertion confirms the target week is exactly 7·h days after the feature week.</a:t>
            </a:r>
            <a:endParaRPr lang="en-US" sz="1600" dirty="0"/>
          </a:p>
          <a:p>
            <a:pPr algn="l" marL="177292" indent="-177292">
              <a:lnSpc>
                <a:spcPts val="2320"/>
              </a:lnSpc>
              <a:buSzPct val="100000"/>
              <a:buChar char="•"/>
            </a:pPr>
            <a:r>
              <a:rPr lang="en-US" sz="1600" b="1" dirty="0">
                <a:solidFill>
                  <a:srgbClr val="1F2937"/>
                </a:solidFill>
                <a:latin typeface="Arial" pitchFamily="34" charset="0"/>
                <a:ea typeface="Arial" pitchFamily="34" charset="-122"/>
                <a:cs typeface="Arial" pitchFamily="34" charset="-120"/>
              </a:rPr>
              <a:t>Features:</a:t>
            </a:r>
            <a:r>
              <a:rPr lang="en-US" sz="1600" dirty="0">
                <a:solidFill>
                  <a:srgbClr val="1F2937"/>
                </a:solidFill>
                <a:latin typeface="Arial" pitchFamily="34" charset="0"/>
                <a:ea typeface="Arial" pitchFamily="34" charset="-122"/>
                <a:cs typeface="Arial" pitchFamily="34" charset="-120"/>
              </a:rPr>
              <a:t> reporting lags 1–4; 4- and 8-week rolling reporting rates; week of year with sin/cos terms (periods 52 and 26); climate at lags 0–4; COVID flag; state and disease.</a:t>
            </a:r>
            <a:endParaRPr lang="en-US" sz="1600" dirty="0"/>
          </a:p>
          <a:p>
            <a:pPr algn="l" marL="177292" indent="-177292">
              <a:lnSpc>
                <a:spcPts val="2320"/>
              </a:lnSpc>
              <a:buSzPct val="100000"/>
              <a:buChar char="•"/>
            </a:pPr>
            <a:r>
              <a:rPr lang="en-US" sz="1600" b="1" dirty="0">
                <a:solidFill>
                  <a:srgbClr val="1F2937"/>
                </a:solidFill>
                <a:latin typeface="Arial" pitchFamily="34" charset="0"/>
                <a:ea typeface="Arial" pitchFamily="34" charset="-122"/>
                <a:cs typeface="Arial" pitchFamily="34" charset="-120"/>
              </a:rPr>
              <a:t>Time-ordered splits, never shuffled:</a:t>
            </a:r>
            <a:r>
              <a:rPr lang="en-US" sz="1600" dirty="0">
                <a:solidFill>
                  <a:srgbClr val="1F2937"/>
                </a:solidFill>
                <a:latin typeface="Arial" pitchFamily="34" charset="0"/>
                <a:ea typeface="Arial" pitchFamily="34" charset="-122"/>
                <a:cs typeface="Arial" pitchFamily="34" charset="-120"/>
              </a:rPr>
              <a:t> train 2009–2017, validation 2018–2019, test 1 Jan 2021 – 29 Jun 2022.</a:t>
            </a:r>
            <a:endParaRPr lang="en-US" sz="1600" dirty="0"/>
          </a:p>
        </p:txBody>
      </p:sp>
      <p:sp>
        <p:nvSpPr>
          <p:cNvPr id="27" name="Text 20"/>
          <p:cNvSpPr/>
          <p:nvPr/>
        </p:nvSpPr>
        <p:spPr>
          <a:xfrm>
            <a:off x="10058456" y="6238249"/>
            <a:ext cx="1320767"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2A4A"/>
                </a:solidFill>
                <a:latin typeface="Arial" pitchFamily="34" charset="0"/>
                <a:ea typeface="Arial" pitchFamily="34" charset="-122"/>
                <a:cs typeface="Arial" pitchFamily="34" charset="-120"/>
              </a:rPr>
              <a:t>Models and Evaluation Protocol</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4343" y="1658891"/>
          <a:ext cx="10554879" cy="2469769"/>
        </p:xfrm>
        <a:graphic>
          <a:graphicData uri="http://schemas.openxmlformats.org/drawingml/2006/table">
            <a:tbl>
              <a:tblPr/>
              <a:tblGrid>
                <a:gridCol w="2744269"/>
                <a:gridCol w="7810611"/>
              </a:tblGrid>
              <a:tr h="411628">
                <a:tc>
                  <a:txBody>
                    <a:bodyPr/>
                    <a:lstStyle/>
                    <a:p>
                      <a:pPr indent="0" marL="0">
                        <a:lnSpc>
                          <a:spcPts val="2100"/>
                        </a:lnSpc>
                        <a:buNone/>
                      </a:pPr>
                      <a:r>
                        <a:rPr lang="en-US" sz="1500" b="1" dirty="0">
                          <a:solidFill>
                            <a:srgbClr val="1F2937"/>
                          </a:solidFill>
                          <a:latin typeface="Arial" pitchFamily="34" charset="0"/>
                          <a:ea typeface="Arial" pitchFamily="34" charset="-122"/>
                          <a:cs typeface="Arial" pitchFamily="34" charset="-120"/>
                        </a:rPr>
                        <a:t>Model</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c>
                  <a:txBody>
                    <a:bodyPr/>
                    <a:lstStyle/>
                    <a:p>
                      <a:pPr indent="0" marL="0">
                        <a:lnSpc>
                          <a:spcPts val="2100"/>
                        </a:lnSpc>
                        <a:buNone/>
                      </a:pPr>
                      <a:r>
                        <a:rPr lang="en-US" sz="1500" b="1" dirty="0">
                          <a:solidFill>
                            <a:srgbClr val="1F2937"/>
                          </a:solidFill>
                          <a:latin typeface="Arial" pitchFamily="34" charset="0"/>
                          <a:ea typeface="Arial" pitchFamily="34" charset="-122"/>
                          <a:cs typeface="Arial" pitchFamily="34" charset="-120"/>
                        </a:rPr>
                        <a:t>Configuration</a:t>
                      </a:r>
                      <a:endParaRPr lang="en-US" sz="1500" dirty="0">
                        <a:latin typeface="Arial" charset="0"/>
                        <a:ea typeface="Arial" charset="0"/>
                        <a:cs typeface="Arial" charset="0"/>
                      </a:endParaRPr>
                    </a:p>
                  </a:txBody>
                  <a:tcPr marL="66675" marR="66675" marT="66675" marB="66675" anchor="t">
                    <a:lnL w="12700" cap="flat" cmpd="sng" algn="ctr">
                      <a:solidFill>
                        <a:srgbClr val="B7B9B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r>
              <a:tr h="411628">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Baselines</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Persistence and seasonal; any useful model must beat them</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1628">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Logistic regression</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Linear model on the same feature set</a:t>
                      </a:r>
                      <a:endParaRPr lang="en-US" sz="1500" dirty="0">
                        <a:latin typeface="Arial" charset="0"/>
                        <a:ea typeface="Arial" charset="0"/>
                        <a:cs typeface="Arial" charset="0"/>
                      </a:endParaRPr>
                    </a:p>
                  </a:txBody>
                  <a:tcPr marL="66675" marR="66675" marT="66675" marB="66675"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r>
              <a:tr h="411628">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XGBoost</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Depth 3, 200 trees, lr 0.05, subsample 0.8, early stopping on validation PR-AUC</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1628">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SARIMA</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Fourier terms (period 52); AIC-selected order; reporting history only</a:t>
                      </a:r>
                      <a:endParaRPr lang="en-US" sz="1500" dirty="0">
                        <a:latin typeface="Arial" charset="0"/>
                        <a:ea typeface="Arial" charset="0"/>
                        <a:cs typeface="Arial" charset="0"/>
                      </a:endParaRPr>
                    </a:p>
                  </a:txBody>
                  <a:tcPr marL="66675" marR="66675" marT="66675" marB="66675"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r>
              <a:tr h="411628">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Stochastic GB</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F2937"/>
                          </a:solidFill>
                          <a:latin typeface="Arial" pitchFamily="34" charset="0"/>
                          <a:ea typeface="Arial" pitchFamily="34" charset="-122"/>
                          <a:cs typeface="Arial" pitchFamily="34" charset="-120"/>
                        </a:rPr>
                        <a:t>Depth 3, 200 trees, lr 0.05, subsample 0.8, balanced class weights</a:t>
                      </a:r>
                      <a:endParaRPr lang="en-US" sz="1500" dirty="0">
                        <a:latin typeface="Arial" charset="0"/>
                        <a:ea typeface="Arial" charset="0"/>
                        <a:cs typeface="Arial"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Text 1"/>
          <p:cNvSpPr/>
          <p:nvPr/>
        </p:nvSpPr>
        <p:spPr>
          <a:xfrm>
            <a:off x="868884" y="4516199"/>
            <a:ext cx="10819713" cy="1351160"/>
          </a:xfrm>
          <a:prstGeom prst="rect">
            <a:avLst/>
          </a:prstGeom>
          <a:noFill/>
          <a:ln/>
        </p:spPr>
        <p:txBody>
          <a:bodyPr wrap="square" lIns="0" tIns="0" rIns="0" bIns="0" rtlCol="0" anchor="t">
            <a:normAutofit/>
          </a:bodyPr>
          <a:lstStyle/>
          <a:p>
            <a:pPr algn="l" marL="197866" indent="-197866">
              <a:lnSpc>
                <a:spcPts val="2610"/>
              </a:lnSpc>
              <a:buSzPct val="100000"/>
              <a:buChar char="•"/>
            </a:pPr>
            <a:r>
              <a:rPr lang="en-US" sz="1800" b="1" dirty="0">
                <a:solidFill>
                  <a:srgbClr val="1F2937"/>
                </a:solidFill>
                <a:latin typeface="Arial" pitchFamily="34" charset="0"/>
                <a:ea typeface="Arial" pitchFamily="34" charset="-122"/>
                <a:cs typeface="Arial" pitchFamily="34" charset="-120"/>
              </a:rPr>
              <a:t>Metric:</a:t>
            </a:r>
            <a:r>
              <a:rPr lang="en-US" sz="1800" dirty="0">
                <a:solidFill>
                  <a:srgbClr val="1F2937"/>
                </a:solidFill>
                <a:latin typeface="Arial" pitchFamily="34" charset="0"/>
                <a:ea typeface="Arial" pitchFamily="34" charset="-122"/>
                <a:cs typeface="Arial" pitchFamily="34" charset="-120"/>
              </a:rPr>
              <a:t> PR-AUC, because report weeks are only 14–39% of test weeks and accuracy rewards always predicting “no report”.</a:t>
            </a:r>
            <a:endParaRPr lang="en-US" sz="1800" dirty="0"/>
          </a:p>
          <a:p>
            <a:pPr algn="l" marL="197866" indent="-197866">
              <a:lnSpc>
                <a:spcPts val="2610"/>
              </a:lnSpc>
              <a:buSzPct val="100000"/>
              <a:buChar char="•"/>
            </a:pPr>
            <a:r>
              <a:rPr lang="en-US" sz="1800" b="1" dirty="0">
                <a:solidFill>
                  <a:srgbClr val="1F2937"/>
                </a:solidFill>
                <a:latin typeface="Arial" pitchFamily="34" charset="0"/>
                <a:ea typeface="Arial" pitchFamily="34" charset="-122"/>
                <a:cs typeface="Arial" pitchFamily="34" charset="-120"/>
              </a:rPr>
              <a:t>Uncertainty:</a:t>
            </a:r>
            <a:r>
              <a:rPr lang="en-US" sz="1800" dirty="0">
                <a:solidFill>
                  <a:srgbClr val="1F2937"/>
                </a:solidFill>
                <a:latin typeface="Arial" pitchFamily="34" charset="0"/>
                <a:ea typeface="Arial" pitchFamily="34" charset="-122"/>
                <a:cs typeface="Arial" pitchFamily="34" charset="-120"/>
              </a:rPr>
              <a:t> 1,000-sample bootstrap 95% confidence interval for every score (seed 42).</a:t>
            </a:r>
            <a:endParaRPr lang="en-US" sz="1800" dirty="0"/>
          </a:p>
          <a:p>
            <a:pPr algn="l" marL="197866" indent="-197866">
              <a:lnSpc>
                <a:spcPts val="2610"/>
              </a:lnSpc>
              <a:buSzPct val="100000"/>
              <a:buChar char="•"/>
            </a:pPr>
            <a:r>
              <a:rPr lang="en-US" sz="1800" b="1" dirty="0">
                <a:solidFill>
                  <a:srgbClr val="1F2937"/>
                </a:solidFill>
                <a:latin typeface="Arial" pitchFamily="34" charset="0"/>
                <a:ea typeface="Arial" pitchFamily="34" charset="-122"/>
                <a:cs typeface="Arial" pitchFamily="34" charset="-120"/>
              </a:rPr>
              <a:t>Decision rule:</a:t>
            </a:r>
            <a:r>
              <a:rPr lang="en-US" sz="1800" dirty="0">
                <a:solidFill>
                  <a:srgbClr val="1F2937"/>
                </a:solidFill>
                <a:latin typeface="Arial" pitchFamily="34" charset="0"/>
                <a:ea typeface="Arial" pitchFamily="34" charset="-122"/>
                <a:cs typeface="Arial" pitchFamily="34" charset="-120"/>
              </a:rPr>
              <a:t> a result is “above chance” only if its CI lower bound exceeds the base rate.</a:t>
            </a:r>
            <a:endParaRPr lang="en-US" sz="1800" dirty="0"/>
          </a:p>
        </p:txBody>
      </p:sp>
      <p:sp>
        <p:nvSpPr>
          <p:cNvPr id="5" name="Text 2"/>
          <p:cNvSpPr/>
          <p:nvPr/>
        </p:nvSpPr>
        <p:spPr>
          <a:xfrm>
            <a:off x="10058456" y="6238249"/>
            <a:ext cx="1320767"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2A4A"/>
                </a:solidFill>
                <a:latin typeface="Arial" pitchFamily="34" charset="0"/>
                <a:ea typeface="Arial" pitchFamily="34" charset="-122"/>
                <a:cs typeface="Arial" pitchFamily="34" charset="-120"/>
              </a:rPr>
              <a:t>Results: Maharashtra Dengue</a:t>
            </a:r>
            <a:endParaRPr lang="en-US" sz="3200" dirty="0"/>
          </a:p>
        </p:txBody>
      </p:sp>
      <p:sp>
        <p:nvSpPr>
          <p:cNvPr id="3" name="Text 1"/>
          <p:cNvSpPr/>
          <p:nvPr/>
        </p:nvSpPr>
        <p:spPr>
          <a:xfrm>
            <a:off x="812750" y="1335903"/>
            <a:ext cx="10883467" cy="29211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B5563"/>
                </a:solidFill>
                <a:latin typeface="Arial" pitchFamily="34" charset="0"/>
                <a:ea typeface="Arial" pitchFamily="34" charset="-122"/>
                <a:cs typeface="Arial" pitchFamily="34" charset="-120"/>
              </a:rPr>
              <a:t>Test PR-AUC [95% CI], 1 Jan 2021 – 29 Jun 2022 · base rate 0.333 (26 report weeks of 78)</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3" y="2135430"/>
          <a:ext cx="10554879" cy="2190983"/>
        </p:xfrm>
        <a:graphic>
          <a:graphicData uri="http://schemas.openxmlformats.org/drawingml/2006/table">
            <a:tbl>
              <a:tblPr/>
              <a:tblGrid>
                <a:gridCol w="1688781"/>
                <a:gridCol w="2216525"/>
                <a:gridCol w="2216525"/>
                <a:gridCol w="2216525"/>
                <a:gridCol w="2216525"/>
              </a:tblGrid>
              <a:tr h="438197">
                <a:tc>
                  <a:txBody>
                    <a:bodyPr/>
                    <a:lstStyle/>
                    <a:p>
                      <a:pPr indent="0" marL="0">
                        <a:lnSpc>
                          <a:spcPts val="2240"/>
                        </a:lnSpc>
                        <a:buNone/>
                      </a:pPr>
                      <a:r>
                        <a:rPr lang="en-US" sz="1600" b="1" dirty="0">
                          <a:solidFill>
                            <a:srgbClr val="1F2937"/>
                          </a:solidFill>
                          <a:latin typeface="Arial" pitchFamily="34" charset="0"/>
                          <a:ea typeface="Arial" pitchFamily="34" charset="-122"/>
                          <a:cs typeface="Arial" pitchFamily="34" charset="-120"/>
                        </a:rPr>
                        <a:t>Lead time</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c>
                  <a:txBody>
                    <a:bodyPr/>
                    <a:lstStyle/>
                    <a:p>
                      <a:pPr indent="0" marL="0">
                        <a:lnSpc>
                          <a:spcPts val="2240"/>
                        </a:lnSpc>
                        <a:buNone/>
                      </a:pPr>
                      <a:r>
                        <a:rPr lang="en-US" sz="1600" b="1" dirty="0">
                          <a:solidFill>
                            <a:srgbClr val="1F2937"/>
                          </a:solidFill>
                          <a:latin typeface="Arial" pitchFamily="34" charset="0"/>
                          <a:ea typeface="Arial" pitchFamily="34" charset="-122"/>
                          <a:cs typeface="Arial" pitchFamily="34" charset="-120"/>
                        </a:rPr>
                        <a:t>XGBoost</a:t>
                      </a:r>
                      <a:endParaRPr lang="en-US" sz="1600" dirty="0">
                        <a:latin typeface="Arial" charset="0"/>
                        <a:ea typeface="Arial" charset="0"/>
                        <a:cs typeface="Arial" charset="0"/>
                      </a:endParaRPr>
                    </a:p>
                  </a:txBody>
                  <a:tcPr marL="71120" marR="71120" marT="71120" marB="71120" anchor="t">
                    <a:lnL w="12700" cap="flat" cmpd="sng" algn="ctr">
                      <a:solidFill>
                        <a:srgbClr val="B7B9B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c>
                  <a:txBody>
                    <a:bodyPr/>
                    <a:lstStyle/>
                    <a:p>
                      <a:pPr indent="0" marL="0">
                        <a:lnSpc>
                          <a:spcPts val="2240"/>
                        </a:lnSpc>
                        <a:buNone/>
                      </a:pPr>
                      <a:r>
                        <a:rPr lang="en-US" sz="1600" b="1" dirty="0">
                          <a:solidFill>
                            <a:srgbClr val="1F2937"/>
                          </a:solidFill>
                          <a:latin typeface="Arial" pitchFamily="34" charset="0"/>
                          <a:ea typeface="Arial" pitchFamily="34" charset="-122"/>
                          <a:cs typeface="Arial" pitchFamily="34" charset="-120"/>
                        </a:rPr>
                        <a:t>Logistic</a:t>
                      </a:r>
                      <a:endParaRPr lang="en-US" sz="1600" dirty="0">
                        <a:latin typeface="Arial" charset="0"/>
                        <a:ea typeface="Arial" charset="0"/>
                        <a:cs typeface="Arial" charset="0"/>
                      </a:endParaRPr>
                    </a:p>
                  </a:txBody>
                  <a:tcPr marL="71120" marR="71120" marT="71120" marB="71120" anchor="t">
                    <a:lnL w="12700" cap="flat" cmpd="sng" algn="ctr">
                      <a:solidFill>
                        <a:srgbClr val="B7B9B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c>
                  <a:txBody>
                    <a:bodyPr/>
                    <a:lstStyle/>
                    <a:p>
                      <a:pPr indent="0" marL="0">
                        <a:lnSpc>
                          <a:spcPts val="2240"/>
                        </a:lnSpc>
                        <a:buNone/>
                      </a:pPr>
                      <a:r>
                        <a:rPr lang="en-US" sz="1600" b="1" dirty="0">
                          <a:solidFill>
                            <a:srgbClr val="1F2937"/>
                          </a:solidFill>
                          <a:latin typeface="Arial" pitchFamily="34" charset="0"/>
                          <a:ea typeface="Arial" pitchFamily="34" charset="-122"/>
                          <a:cs typeface="Arial" pitchFamily="34" charset="-120"/>
                        </a:rPr>
                        <a:t>SARIMA</a:t>
                      </a:r>
                      <a:endParaRPr lang="en-US" sz="1600" dirty="0">
                        <a:latin typeface="Arial" charset="0"/>
                        <a:ea typeface="Arial" charset="0"/>
                        <a:cs typeface="Arial" charset="0"/>
                      </a:endParaRPr>
                    </a:p>
                  </a:txBody>
                  <a:tcPr marL="71120" marR="71120" marT="71120" marB="71120" anchor="t">
                    <a:lnL w="12700" cap="flat" cmpd="sng" algn="ctr">
                      <a:solidFill>
                        <a:srgbClr val="B7B9B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c>
                  <a:txBody>
                    <a:bodyPr/>
                    <a:lstStyle/>
                    <a:p>
                      <a:pPr indent="0" marL="0">
                        <a:lnSpc>
                          <a:spcPts val="2240"/>
                        </a:lnSpc>
                        <a:buNone/>
                      </a:pPr>
                      <a:r>
                        <a:rPr lang="en-US" sz="1600" b="1" dirty="0">
                          <a:solidFill>
                            <a:srgbClr val="1F2937"/>
                          </a:solidFill>
                          <a:latin typeface="Arial" pitchFamily="34" charset="0"/>
                          <a:ea typeface="Arial" pitchFamily="34" charset="-122"/>
                          <a:cs typeface="Arial" pitchFamily="34" charset="-120"/>
                        </a:rPr>
                        <a:t>Stochastic GB</a:t>
                      </a:r>
                      <a:endParaRPr lang="en-US" sz="1600" dirty="0">
                        <a:latin typeface="Arial" charset="0"/>
                        <a:ea typeface="Arial" charset="0"/>
                        <a:cs typeface="Arial" charset="0"/>
                      </a:endParaRPr>
                    </a:p>
                  </a:txBody>
                  <a:tcPr marL="71120" marR="71120" marT="71120" marB="71120" anchor="t">
                    <a:lnL w="12700" cap="flat" cmpd="sng" algn="ctr">
                      <a:solidFill>
                        <a:srgbClr val="B7B9B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r>
              <a:tr h="438197">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1 week</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0.639 [0.469, 0.857]</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0.643 [0.461, 0.831]</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0.575 [0.412, 0.798]</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0.624 [0.459, 0.819]</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8197">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2 weeks</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0.692 [0.513, 0.864]</a:t>
                      </a:r>
                      <a:endParaRPr lang="en-US" sz="1600" dirty="0">
                        <a:latin typeface="Arial" charset="0"/>
                        <a:ea typeface="Arial" charset="0"/>
                        <a:cs typeface="Arial" charset="0"/>
                      </a:endParaRPr>
                    </a:p>
                  </a:txBody>
                  <a:tcPr marL="71120" marR="71120" marT="71120" marB="7112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0.618 [0.456, 0.839]</a:t>
                      </a:r>
                      <a:endParaRPr lang="en-US" sz="1600" dirty="0">
                        <a:latin typeface="Arial" charset="0"/>
                        <a:ea typeface="Arial" charset="0"/>
                        <a:cs typeface="Arial" charset="0"/>
                      </a:endParaRPr>
                    </a:p>
                  </a:txBody>
                  <a:tcPr marL="71120" marR="71120" marT="71120" marB="7112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0.555 [0.408, 0.783]</a:t>
                      </a:r>
                      <a:endParaRPr lang="en-US" sz="1600" dirty="0">
                        <a:latin typeface="Arial" charset="0"/>
                        <a:ea typeface="Arial" charset="0"/>
                        <a:cs typeface="Arial" charset="0"/>
                      </a:endParaRPr>
                    </a:p>
                  </a:txBody>
                  <a:tcPr marL="71120" marR="71120" marT="71120" marB="7112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0.683 [0.508, 0.849]</a:t>
                      </a:r>
                      <a:endParaRPr lang="en-US" sz="1600" dirty="0">
                        <a:latin typeface="Arial" charset="0"/>
                        <a:ea typeface="Arial" charset="0"/>
                        <a:cs typeface="Arial" charset="0"/>
                      </a:endParaRPr>
                    </a:p>
                  </a:txBody>
                  <a:tcPr marL="71120" marR="71120" marT="71120" marB="7112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r>
              <a:tr h="438197">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3 weeks</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0.717 [0.530, 0.872]</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0.625 [0.451, 0.831]</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0.591 [0.418, 0.780]</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0.644 [0.472, 0.845]</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8197">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4 weeks</a:t>
                      </a:r>
                      <a:endParaRPr lang="en-US" sz="1600" dirty="0">
                        <a:latin typeface="Arial" charset="0"/>
                        <a:ea typeface="Arial" charset="0"/>
                        <a:cs typeface="Arial"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0.568 [0.397, 0.786]</a:t>
                      </a:r>
                      <a:endParaRPr lang="en-US" sz="1600" dirty="0">
                        <a:latin typeface="Arial" charset="0"/>
                        <a:ea typeface="Arial" charset="0"/>
                        <a:cs typeface="Arial" charset="0"/>
                      </a:endParaRPr>
                    </a:p>
                  </a:txBody>
                  <a:tcPr marL="71120" marR="71120" marT="71120" marB="7112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0.637 [0.449, 0.824]</a:t>
                      </a:r>
                      <a:endParaRPr lang="en-US" sz="1600" dirty="0">
                        <a:latin typeface="Arial" charset="0"/>
                        <a:ea typeface="Arial" charset="0"/>
                        <a:cs typeface="Arial" charset="0"/>
                      </a:endParaRPr>
                    </a:p>
                  </a:txBody>
                  <a:tcPr marL="71120" marR="71120" marT="71120" marB="7112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0.596 [0.398, 0.775]</a:t>
                      </a:r>
                      <a:endParaRPr lang="en-US" sz="1600" dirty="0">
                        <a:latin typeface="Arial" charset="0"/>
                        <a:ea typeface="Arial" charset="0"/>
                        <a:cs typeface="Arial" charset="0"/>
                      </a:endParaRPr>
                    </a:p>
                  </a:txBody>
                  <a:tcPr marL="71120" marR="71120" marT="71120" marB="7112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240"/>
                        </a:lnSpc>
                        <a:buNone/>
                      </a:pPr>
                      <a:r>
                        <a:rPr lang="en-US" sz="1600" dirty="0">
                          <a:solidFill>
                            <a:srgbClr val="1F2937"/>
                          </a:solidFill>
                          <a:latin typeface="Arial" pitchFamily="34" charset="0"/>
                          <a:ea typeface="Arial" pitchFamily="34" charset="-122"/>
                          <a:cs typeface="Arial" pitchFamily="34" charset="-120"/>
                        </a:rPr>
                        <a:t>0.625 [0.427, 0.804]</a:t>
                      </a:r>
                      <a:endParaRPr lang="en-US" sz="1600" dirty="0">
                        <a:latin typeface="Arial" charset="0"/>
                        <a:ea typeface="Arial" charset="0"/>
                        <a:cs typeface="Arial" charset="0"/>
                      </a:endParaRPr>
                    </a:p>
                  </a:txBody>
                  <a:tcPr marL="71120" marR="71120" marT="71120" marB="7112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r>
            </a:tbl>
          </a:graphicData>
        </a:graphic>
      </p:graphicFrame>
      <p:sp>
        <p:nvSpPr>
          <p:cNvPr id="5" name="Text 2"/>
          <p:cNvSpPr/>
          <p:nvPr/>
        </p:nvSpPr>
        <p:spPr>
          <a:xfrm>
            <a:off x="868884" y="4847636"/>
            <a:ext cx="10819713" cy="1019720"/>
          </a:xfrm>
          <a:prstGeom prst="rect">
            <a:avLst/>
          </a:prstGeom>
          <a:noFill/>
          <a:ln/>
        </p:spPr>
        <p:txBody>
          <a:bodyPr wrap="square" lIns="0" tIns="0" rIns="0" bIns="0" rtlCol="0" anchor="t">
            <a:normAutofit/>
          </a:bodyPr>
          <a:lstStyle/>
          <a:p>
            <a:pPr algn="l" marL="197866" indent="-197866">
              <a:lnSpc>
                <a:spcPts val="2610"/>
              </a:lnSpc>
              <a:buSzPct val="100000"/>
              <a:buChar char="•"/>
            </a:pPr>
            <a:r>
              <a:rPr lang="en-US" sz="1800" dirty="0">
                <a:solidFill>
                  <a:srgbClr val="1F2937"/>
                </a:solidFill>
                <a:latin typeface="Arial" pitchFamily="34" charset="0"/>
                <a:ea typeface="Arial" pitchFamily="34" charset="-122"/>
                <a:cs typeface="Arial" pitchFamily="34" charset="-120"/>
              </a:rPr>
              <a:t>All 16 results are above chance: the lowest CI lower bound is 0.397, above the 0.333 base rate.</a:t>
            </a:r>
            <a:endParaRPr lang="en-US" sz="1800" dirty="0"/>
          </a:p>
          <a:p>
            <a:pPr algn="l" marL="197866" indent="-197866">
              <a:lnSpc>
                <a:spcPts val="2610"/>
              </a:lnSpc>
              <a:buSzPct val="100000"/>
              <a:buChar char="•"/>
            </a:pPr>
            <a:r>
              <a:rPr lang="en-US" sz="1800" dirty="0">
                <a:solidFill>
                  <a:srgbClr val="1F2937"/>
                </a:solidFill>
                <a:latin typeface="Arial" pitchFamily="34" charset="0"/>
                <a:ea typeface="Arial" pitchFamily="34" charset="-122"/>
                <a:cs typeface="Arial" pitchFamily="34" charset="-120"/>
              </a:rPr>
              <a:t>No model is statistically better: every model’s CI overlaps the others.</a:t>
            </a:r>
            <a:endParaRPr lang="en-US" sz="1800" dirty="0"/>
          </a:p>
          <a:p>
            <a:pPr algn="l" marL="197866" indent="-197866">
              <a:lnSpc>
                <a:spcPts val="2610"/>
              </a:lnSpc>
              <a:buSzPct val="100000"/>
              <a:buChar char="•"/>
            </a:pPr>
            <a:r>
              <a:rPr lang="en-US" sz="1800" dirty="0">
                <a:solidFill>
                  <a:srgbClr val="1F2937"/>
                </a:solidFill>
                <a:latin typeface="Arial" pitchFamily="34" charset="0"/>
                <a:ea typeface="Arial" pitchFamily="34" charset="-122"/>
                <a:cs typeface="Arial" pitchFamily="34" charset="-120"/>
              </a:rPr>
              <a:t>XGBoost’s highest value (0.717 at 3 weeks) is not a real peak; its CI overlaps the 1-week result.</a:t>
            </a:r>
            <a:endParaRPr lang="en-US" sz="1800" dirty="0"/>
          </a:p>
        </p:txBody>
      </p:sp>
      <p:sp>
        <p:nvSpPr>
          <p:cNvPr id="6" name="Text 3"/>
          <p:cNvSpPr/>
          <p:nvPr/>
        </p:nvSpPr>
        <p:spPr>
          <a:xfrm>
            <a:off x="10058456" y="6238246"/>
            <a:ext cx="1320767"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2A4A"/>
                </a:solidFill>
                <a:latin typeface="Arial" pitchFamily="34" charset="0"/>
                <a:ea typeface="Arial" pitchFamily="34" charset="-122"/>
                <a:cs typeface="Arial" pitchFamily="34" charset="-120"/>
              </a:rPr>
              <a:t>Generalization Across Seven Combinations</a:t>
            </a:r>
            <a:endParaRPr lang="en-US" sz="3200" dirty="0"/>
          </a:p>
        </p:txBody>
      </p:sp>
      <p:sp>
        <p:nvSpPr>
          <p:cNvPr id="3" name="Text 1"/>
          <p:cNvSpPr/>
          <p:nvPr/>
        </p:nvSpPr>
        <p:spPr>
          <a:xfrm>
            <a:off x="812750" y="1477442"/>
            <a:ext cx="2223749" cy="25648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B5563"/>
                </a:solidFill>
                <a:latin typeface="Arial" pitchFamily="34" charset="0"/>
                <a:ea typeface="Arial" pitchFamily="34" charset="-122"/>
                <a:cs typeface="Arial" pitchFamily="34" charset="-120"/>
              </a:rPr>
              <a:t>Combination</a:t>
            </a:r>
            <a:endParaRPr lang="en-US" sz="1300" dirty="0"/>
          </a:p>
        </p:txBody>
      </p:sp>
      <p:sp>
        <p:nvSpPr>
          <p:cNvPr id="4" name="Text 2"/>
          <p:cNvSpPr/>
          <p:nvPr/>
        </p:nvSpPr>
        <p:spPr>
          <a:xfrm>
            <a:off x="3124075" y="1477442"/>
            <a:ext cx="1320767" cy="25648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B5563"/>
                </a:solidFill>
                <a:latin typeface="Arial" pitchFamily="34" charset="0"/>
                <a:ea typeface="Arial" pitchFamily="34" charset="-122"/>
                <a:cs typeface="Arial" pitchFamily="34" charset="-120"/>
              </a:rPr>
              <a:t>Base rate</a:t>
            </a:r>
            <a:endParaRPr lang="en-US" sz="1300" dirty="0"/>
          </a:p>
        </p:txBody>
      </p:sp>
      <p:sp>
        <p:nvSpPr>
          <p:cNvPr id="5" name="Text 3"/>
          <p:cNvSpPr/>
          <p:nvPr/>
        </p:nvSpPr>
        <p:spPr>
          <a:xfrm>
            <a:off x="4546388" y="1477442"/>
            <a:ext cx="5493976" cy="25648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B5563"/>
                </a:solidFill>
                <a:latin typeface="Arial" pitchFamily="34" charset="0"/>
                <a:ea typeface="Arial" pitchFamily="34" charset="-122"/>
                <a:cs typeface="Arial" pitchFamily="34" charset="-120"/>
              </a:rPr>
              <a:t>Results above chance (4 models × 4 lead times = 16)</a:t>
            </a:r>
            <a:endParaRPr lang="en-US" sz="1300" dirty="0"/>
          </a:p>
        </p:txBody>
      </p:sp>
      <p:sp>
        <p:nvSpPr>
          <p:cNvPr id="6" name="Text 4"/>
          <p:cNvSpPr/>
          <p:nvPr/>
        </p:nvSpPr>
        <p:spPr>
          <a:xfrm>
            <a:off x="10032691" y="1477442"/>
            <a:ext cx="939753" cy="25648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B5563"/>
                </a:solidFill>
                <a:latin typeface="Arial" pitchFamily="34" charset="0"/>
                <a:ea typeface="Arial" pitchFamily="34" charset="-122"/>
                <a:cs typeface="Arial" pitchFamily="34" charset="-120"/>
              </a:rPr>
              <a:t>Count</a:t>
            </a:r>
            <a:endParaRPr lang="en-US" sz="1300" dirty="0"/>
          </a:p>
        </p:txBody>
      </p:sp>
      <p:sp>
        <p:nvSpPr>
          <p:cNvPr id="7" name="Text 5"/>
          <p:cNvSpPr/>
          <p:nvPr/>
        </p:nvSpPr>
        <p:spPr>
          <a:xfrm>
            <a:off x="812750" y="1835510"/>
            <a:ext cx="2223749"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Maharashtra · Dengue</a:t>
            </a:r>
            <a:endParaRPr lang="en-US" sz="1600" dirty="0"/>
          </a:p>
        </p:txBody>
      </p:sp>
      <p:sp>
        <p:nvSpPr>
          <p:cNvPr id="8" name="Text 6"/>
          <p:cNvSpPr/>
          <p:nvPr/>
        </p:nvSpPr>
        <p:spPr>
          <a:xfrm>
            <a:off x="3124075" y="1835510"/>
            <a:ext cx="1320767"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0.333</a:t>
            </a:r>
            <a:endParaRPr lang="en-US" sz="1600" dirty="0"/>
          </a:p>
        </p:txBody>
      </p:sp>
      <p:sp>
        <p:nvSpPr>
          <p:cNvPr id="9" name="Shape 7"/>
          <p:cNvSpPr/>
          <p:nvPr/>
        </p:nvSpPr>
        <p:spPr>
          <a:xfrm>
            <a:off x="4546388" y="1863468"/>
            <a:ext cx="5333958" cy="228548"/>
          </a:xfrm>
          <a:prstGeom prst="rect">
            <a:avLst/>
          </a:prstGeom>
          <a:solidFill>
            <a:srgbClr val="E5E7EB"/>
          </a:solidFill>
          <a:ln/>
        </p:spPr>
      </p:sp>
      <p:sp>
        <p:nvSpPr>
          <p:cNvPr id="10" name="Shape 8"/>
          <p:cNvSpPr/>
          <p:nvPr/>
        </p:nvSpPr>
        <p:spPr>
          <a:xfrm>
            <a:off x="4546388" y="1863468"/>
            <a:ext cx="5333958" cy="228548"/>
          </a:xfrm>
          <a:prstGeom prst="rect">
            <a:avLst/>
          </a:prstGeom>
          <a:solidFill>
            <a:srgbClr val="1F5FA8"/>
          </a:solidFill>
          <a:ln/>
        </p:spPr>
      </p:sp>
      <p:sp>
        <p:nvSpPr>
          <p:cNvPr id="11" name="Text 9"/>
          <p:cNvSpPr/>
          <p:nvPr/>
        </p:nvSpPr>
        <p:spPr>
          <a:xfrm>
            <a:off x="10032691" y="1835510"/>
            <a:ext cx="939753" cy="309862"/>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937"/>
                </a:solidFill>
                <a:latin typeface="Arial" pitchFamily="34" charset="0"/>
                <a:ea typeface="Arial" pitchFamily="34" charset="-122"/>
                <a:cs typeface="Arial" pitchFamily="34" charset="-120"/>
              </a:rPr>
              <a:t>16 / 16</a:t>
            </a:r>
            <a:endParaRPr lang="en-US" sz="1600" dirty="0"/>
          </a:p>
        </p:txBody>
      </p:sp>
      <p:sp>
        <p:nvSpPr>
          <p:cNvPr id="12" name="Text 10"/>
          <p:cNvSpPr/>
          <p:nvPr/>
        </p:nvSpPr>
        <p:spPr>
          <a:xfrm>
            <a:off x="812750" y="2246957"/>
            <a:ext cx="2223749"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Kerala · Dengue</a:t>
            </a:r>
            <a:endParaRPr lang="en-US" sz="1600" dirty="0"/>
          </a:p>
        </p:txBody>
      </p:sp>
      <p:sp>
        <p:nvSpPr>
          <p:cNvPr id="13" name="Text 11"/>
          <p:cNvSpPr/>
          <p:nvPr/>
        </p:nvSpPr>
        <p:spPr>
          <a:xfrm>
            <a:off x="3124075" y="2246957"/>
            <a:ext cx="1320767"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0.231</a:t>
            </a:r>
            <a:endParaRPr lang="en-US" sz="1600" dirty="0"/>
          </a:p>
        </p:txBody>
      </p:sp>
      <p:sp>
        <p:nvSpPr>
          <p:cNvPr id="14" name="Shape 12"/>
          <p:cNvSpPr/>
          <p:nvPr/>
        </p:nvSpPr>
        <p:spPr>
          <a:xfrm>
            <a:off x="4546388" y="2274915"/>
            <a:ext cx="5333958" cy="228548"/>
          </a:xfrm>
          <a:prstGeom prst="rect">
            <a:avLst/>
          </a:prstGeom>
          <a:solidFill>
            <a:srgbClr val="E5E7EB"/>
          </a:solidFill>
          <a:ln/>
        </p:spPr>
      </p:sp>
      <p:sp>
        <p:nvSpPr>
          <p:cNvPr id="15" name="Shape 13"/>
          <p:cNvSpPr/>
          <p:nvPr/>
        </p:nvSpPr>
        <p:spPr>
          <a:xfrm>
            <a:off x="4546388" y="2274915"/>
            <a:ext cx="5003786" cy="228548"/>
          </a:xfrm>
          <a:prstGeom prst="rect">
            <a:avLst/>
          </a:prstGeom>
          <a:solidFill>
            <a:srgbClr val="1F5FA8"/>
          </a:solidFill>
          <a:ln/>
        </p:spPr>
      </p:sp>
      <p:sp>
        <p:nvSpPr>
          <p:cNvPr id="16" name="Text 14"/>
          <p:cNvSpPr/>
          <p:nvPr/>
        </p:nvSpPr>
        <p:spPr>
          <a:xfrm>
            <a:off x="10032691" y="2246957"/>
            <a:ext cx="939753" cy="309862"/>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937"/>
                </a:solidFill>
                <a:latin typeface="Arial" pitchFamily="34" charset="0"/>
                <a:ea typeface="Arial" pitchFamily="34" charset="-122"/>
                <a:cs typeface="Arial" pitchFamily="34" charset="-120"/>
              </a:rPr>
              <a:t>15 / 16</a:t>
            </a:r>
            <a:endParaRPr lang="en-US" sz="1600" dirty="0"/>
          </a:p>
        </p:txBody>
      </p:sp>
      <p:sp>
        <p:nvSpPr>
          <p:cNvPr id="17" name="Text 15"/>
          <p:cNvSpPr/>
          <p:nvPr/>
        </p:nvSpPr>
        <p:spPr>
          <a:xfrm>
            <a:off x="812750" y="2658405"/>
            <a:ext cx="2223749"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Karnataka · ADD</a:t>
            </a:r>
            <a:endParaRPr lang="en-US" sz="1600" dirty="0"/>
          </a:p>
        </p:txBody>
      </p:sp>
      <p:sp>
        <p:nvSpPr>
          <p:cNvPr id="18" name="Text 16"/>
          <p:cNvSpPr/>
          <p:nvPr/>
        </p:nvSpPr>
        <p:spPr>
          <a:xfrm>
            <a:off x="3124075" y="2658405"/>
            <a:ext cx="1320767"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0.269–0.295</a:t>
            </a:r>
            <a:endParaRPr lang="en-US" sz="1600" dirty="0"/>
          </a:p>
        </p:txBody>
      </p:sp>
      <p:sp>
        <p:nvSpPr>
          <p:cNvPr id="19" name="Shape 17"/>
          <p:cNvSpPr/>
          <p:nvPr/>
        </p:nvSpPr>
        <p:spPr>
          <a:xfrm>
            <a:off x="4546388" y="2686363"/>
            <a:ext cx="5333958" cy="228548"/>
          </a:xfrm>
          <a:prstGeom prst="rect">
            <a:avLst/>
          </a:prstGeom>
          <a:solidFill>
            <a:srgbClr val="E5E7EB"/>
          </a:solidFill>
          <a:ln/>
        </p:spPr>
      </p:sp>
      <p:sp>
        <p:nvSpPr>
          <p:cNvPr id="20" name="Shape 18"/>
          <p:cNvSpPr/>
          <p:nvPr/>
        </p:nvSpPr>
        <p:spPr>
          <a:xfrm>
            <a:off x="4546388" y="2686363"/>
            <a:ext cx="336512" cy="228548"/>
          </a:xfrm>
          <a:prstGeom prst="rect">
            <a:avLst/>
          </a:prstGeom>
          <a:solidFill>
            <a:srgbClr val="D9822B"/>
          </a:solidFill>
          <a:ln/>
        </p:spPr>
      </p:sp>
      <p:sp>
        <p:nvSpPr>
          <p:cNvPr id="21" name="Text 19"/>
          <p:cNvSpPr/>
          <p:nvPr/>
        </p:nvSpPr>
        <p:spPr>
          <a:xfrm>
            <a:off x="10032691" y="2658405"/>
            <a:ext cx="939753" cy="309862"/>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937"/>
                </a:solidFill>
                <a:latin typeface="Arial" pitchFamily="34" charset="0"/>
                <a:ea typeface="Arial" pitchFamily="34" charset="-122"/>
                <a:cs typeface="Arial" pitchFamily="34" charset="-120"/>
              </a:rPr>
              <a:t>1 / 16</a:t>
            </a:r>
            <a:endParaRPr lang="en-US" sz="1600" dirty="0"/>
          </a:p>
        </p:txBody>
      </p:sp>
      <p:sp>
        <p:nvSpPr>
          <p:cNvPr id="22" name="Text 20"/>
          <p:cNvSpPr/>
          <p:nvPr/>
        </p:nvSpPr>
        <p:spPr>
          <a:xfrm>
            <a:off x="812750" y="3069853"/>
            <a:ext cx="2223749"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Maharashtra · ADD</a:t>
            </a:r>
            <a:endParaRPr lang="en-US" sz="1600" dirty="0"/>
          </a:p>
        </p:txBody>
      </p:sp>
      <p:sp>
        <p:nvSpPr>
          <p:cNvPr id="23" name="Text 21"/>
          <p:cNvSpPr/>
          <p:nvPr/>
        </p:nvSpPr>
        <p:spPr>
          <a:xfrm>
            <a:off x="3124075" y="3069853"/>
            <a:ext cx="1320767"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0.141</a:t>
            </a:r>
            <a:endParaRPr lang="en-US" sz="1600" dirty="0"/>
          </a:p>
        </p:txBody>
      </p:sp>
      <p:sp>
        <p:nvSpPr>
          <p:cNvPr id="24" name="Shape 22"/>
          <p:cNvSpPr/>
          <p:nvPr/>
        </p:nvSpPr>
        <p:spPr>
          <a:xfrm>
            <a:off x="4546388" y="3097808"/>
            <a:ext cx="5333958" cy="228548"/>
          </a:xfrm>
          <a:prstGeom prst="rect">
            <a:avLst/>
          </a:prstGeom>
          <a:solidFill>
            <a:srgbClr val="E5E7EB"/>
          </a:solidFill>
          <a:ln/>
        </p:spPr>
      </p:sp>
      <p:sp>
        <p:nvSpPr>
          <p:cNvPr id="25" name="Text 23"/>
          <p:cNvSpPr/>
          <p:nvPr/>
        </p:nvSpPr>
        <p:spPr>
          <a:xfrm>
            <a:off x="10032691" y="3069853"/>
            <a:ext cx="939753" cy="309862"/>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937"/>
                </a:solidFill>
                <a:latin typeface="Arial" pitchFamily="34" charset="0"/>
                <a:ea typeface="Arial" pitchFamily="34" charset="-122"/>
                <a:cs typeface="Arial" pitchFamily="34" charset="-120"/>
              </a:rPr>
              <a:t>0 / 16</a:t>
            </a:r>
            <a:endParaRPr lang="en-US" sz="1600" dirty="0"/>
          </a:p>
        </p:txBody>
      </p:sp>
      <p:sp>
        <p:nvSpPr>
          <p:cNvPr id="26" name="Text 24"/>
          <p:cNvSpPr/>
          <p:nvPr/>
        </p:nvSpPr>
        <p:spPr>
          <a:xfrm>
            <a:off x="812750" y="3481298"/>
            <a:ext cx="2223749"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West Bengal · ADD</a:t>
            </a:r>
            <a:endParaRPr lang="en-US" sz="1600" dirty="0"/>
          </a:p>
        </p:txBody>
      </p:sp>
      <p:sp>
        <p:nvSpPr>
          <p:cNvPr id="27" name="Text 25"/>
          <p:cNvSpPr/>
          <p:nvPr/>
        </p:nvSpPr>
        <p:spPr>
          <a:xfrm>
            <a:off x="3124075" y="3481298"/>
            <a:ext cx="1320767"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0.385</a:t>
            </a:r>
            <a:endParaRPr lang="en-US" sz="1600" dirty="0"/>
          </a:p>
        </p:txBody>
      </p:sp>
      <p:sp>
        <p:nvSpPr>
          <p:cNvPr id="28" name="Shape 26"/>
          <p:cNvSpPr/>
          <p:nvPr/>
        </p:nvSpPr>
        <p:spPr>
          <a:xfrm>
            <a:off x="4546388" y="3509256"/>
            <a:ext cx="5333958" cy="228548"/>
          </a:xfrm>
          <a:prstGeom prst="rect">
            <a:avLst/>
          </a:prstGeom>
          <a:solidFill>
            <a:srgbClr val="E5E7EB"/>
          </a:solidFill>
          <a:ln/>
        </p:spPr>
      </p:sp>
      <p:sp>
        <p:nvSpPr>
          <p:cNvPr id="29" name="Text 27"/>
          <p:cNvSpPr/>
          <p:nvPr/>
        </p:nvSpPr>
        <p:spPr>
          <a:xfrm>
            <a:off x="10032691" y="3481298"/>
            <a:ext cx="939753" cy="309862"/>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937"/>
                </a:solidFill>
                <a:latin typeface="Arial" pitchFamily="34" charset="0"/>
                <a:ea typeface="Arial" pitchFamily="34" charset="-122"/>
                <a:cs typeface="Arial" pitchFamily="34" charset="-120"/>
              </a:rPr>
              <a:t>0 / 16</a:t>
            </a:r>
            <a:endParaRPr lang="en-US" sz="1600" dirty="0"/>
          </a:p>
        </p:txBody>
      </p:sp>
      <p:sp>
        <p:nvSpPr>
          <p:cNvPr id="30" name="Text 28"/>
          <p:cNvSpPr/>
          <p:nvPr/>
        </p:nvSpPr>
        <p:spPr>
          <a:xfrm>
            <a:off x="812750" y="3892745"/>
            <a:ext cx="2223749"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Gujarat · ADD</a:t>
            </a:r>
            <a:endParaRPr lang="en-US" sz="1600" dirty="0"/>
          </a:p>
        </p:txBody>
      </p:sp>
      <p:sp>
        <p:nvSpPr>
          <p:cNvPr id="31" name="Text 29"/>
          <p:cNvSpPr/>
          <p:nvPr/>
        </p:nvSpPr>
        <p:spPr>
          <a:xfrm>
            <a:off x="3124075" y="3892745"/>
            <a:ext cx="1320767"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0.244</a:t>
            </a:r>
            <a:endParaRPr lang="en-US" sz="1600" dirty="0"/>
          </a:p>
        </p:txBody>
      </p:sp>
      <p:sp>
        <p:nvSpPr>
          <p:cNvPr id="32" name="Shape 30"/>
          <p:cNvSpPr/>
          <p:nvPr/>
        </p:nvSpPr>
        <p:spPr>
          <a:xfrm>
            <a:off x="4546388" y="3920703"/>
            <a:ext cx="5333958" cy="228548"/>
          </a:xfrm>
          <a:prstGeom prst="rect">
            <a:avLst/>
          </a:prstGeom>
          <a:solidFill>
            <a:srgbClr val="E5E7EB"/>
          </a:solidFill>
          <a:ln/>
        </p:spPr>
      </p:sp>
      <p:sp>
        <p:nvSpPr>
          <p:cNvPr id="33" name="Text 31"/>
          <p:cNvSpPr/>
          <p:nvPr/>
        </p:nvSpPr>
        <p:spPr>
          <a:xfrm>
            <a:off x="10032691" y="3892745"/>
            <a:ext cx="939753" cy="309862"/>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937"/>
                </a:solidFill>
                <a:latin typeface="Arial" pitchFamily="34" charset="0"/>
                <a:ea typeface="Arial" pitchFamily="34" charset="-122"/>
                <a:cs typeface="Arial" pitchFamily="34" charset="-120"/>
              </a:rPr>
              <a:t>0 / 16</a:t>
            </a:r>
            <a:endParaRPr lang="en-US" sz="1600" dirty="0"/>
          </a:p>
        </p:txBody>
      </p:sp>
      <p:sp>
        <p:nvSpPr>
          <p:cNvPr id="34" name="Text 32"/>
          <p:cNvSpPr/>
          <p:nvPr/>
        </p:nvSpPr>
        <p:spPr>
          <a:xfrm>
            <a:off x="812750" y="4304193"/>
            <a:ext cx="2223749"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Odisha · ADD</a:t>
            </a:r>
            <a:endParaRPr lang="en-US" sz="1600" dirty="0"/>
          </a:p>
        </p:txBody>
      </p:sp>
      <p:sp>
        <p:nvSpPr>
          <p:cNvPr id="35" name="Text 33"/>
          <p:cNvSpPr/>
          <p:nvPr/>
        </p:nvSpPr>
        <p:spPr>
          <a:xfrm>
            <a:off x="3124075" y="4304193"/>
            <a:ext cx="1320767"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937"/>
                </a:solidFill>
                <a:latin typeface="Arial" pitchFamily="34" charset="0"/>
                <a:ea typeface="Arial" pitchFamily="34" charset="-122"/>
                <a:cs typeface="Arial" pitchFamily="34" charset="-120"/>
              </a:rPr>
              <a:t>0.244</a:t>
            </a:r>
            <a:endParaRPr lang="en-US" sz="1600" dirty="0"/>
          </a:p>
        </p:txBody>
      </p:sp>
      <p:sp>
        <p:nvSpPr>
          <p:cNvPr id="36" name="Shape 34"/>
          <p:cNvSpPr/>
          <p:nvPr/>
        </p:nvSpPr>
        <p:spPr>
          <a:xfrm>
            <a:off x="4546388" y="4332148"/>
            <a:ext cx="5333958" cy="228548"/>
          </a:xfrm>
          <a:prstGeom prst="rect">
            <a:avLst/>
          </a:prstGeom>
          <a:solidFill>
            <a:srgbClr val="E5E7EB"/>
          </a:solidFill>
          <a:ln/>
        </p:spPr>
      </p:sp>
      <p:sp>
        <p:nvSpPr>
          <p:cNvPr id="37" name="Text 35"/>
          <p:cNvSpPr/>
          <p:nvPr/>
        </p:nvSpPr>
        <p:spPr>
          <a:xfrm>
            <a:off x="10032691" y="4304193"/>
            <a:ext cx="939753" cy="309862"/>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937"/>
                </a:solidFill>
                <a:latin typeface="Arial" pitchFamily="34" charset="0"/>
                <a:ea typeface="Arial" pitchFamily="34" charset="-122"/>
                <a:cs typeface="Arial" pitchFamily="34" charset="-120"/>
              </a:rPr>
              <a:t>0 / 16</a:t>
            </a:r>
            <a:endParaRPr lang="en-US" sz="1600" dirty="0"/>
          </a:p>
        </p:txBody>
      </p:sp>
      <p:sp>
        <p:nvSpPr>
          <p:cNvPr id="38" name="Text 36"/>
          <p:cNvSpPr/>
          <p:nvPr/>
        </p:nvSpPr>
        <p:spPr>
          <a:xfrm>
            <a:off x="812750" y="4806333"/>
            <a:ext cx="10883467" cy="345428"/>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2A4A"/>
                </a:solidFill>
                <a:latin typeface="Arial" pitchFamily="34" charset="0"/>
                <a:ea typeface="Arial" pitchFamily="34" charset="-122"/>
                <a:cs typeface="Arial" pitchFamily="34" charset="-120"/>
              </a:rPr>
              <a:t>Dengue: 31 of 32 results above chance. ADD: 1 of 80, across five states.</a:t>
            </a:r>
            <a:endParaRPr lang="en-US" sz="1800" dirty="0"/>
          </a:p>
        </p:txBody>
      </p:sp>
      <p:sp>
        <p:nvSpPr>
          <p:cNvPr id="39" name="Text 37"/>
          <p:cNvSpPr/>
          <p:nvPr/>
        </p:nvSpPr>
        <p:spPr>
          <a:xfrm>
            <a:off x="812750" y="5344043"/>
            <a:ext cx="10883467" cy="523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563"/>
                </a:solidFill>
                <a:latin typeface="Arial" pitchFamily="34" charset="0"/>
                <a:ea typeface="Arial" pitchFamily="34" charset="-122"/>
                <a:cs typeface="Arial" pitchFamily="34" charset="-120"/>
              </a:rPr>
              <a:t>Kerala’s only miss: Logistic at 4 weeks (CI lower bound 0.230 vs base rate 0.231). Karnataka’s only hit: XGBoost at 1 week, 0.485 [0.311, 0.661]; its base rate varies with lead time. ADD = acute diarrhoeal disease.</a:t>
            </a:r>
            <a:endParaRPr lang="en-US" sz="1400" dirty="0"/>
          </a:p>
        </p:txBody>
      </p:sp>
      <p:sp>
        <p:nvSpPr>
          <p:cNvPr id="40" name="Text 38"/>
          <p:cNvSpPr/>
          <p:nvPr/>
        </p:nvSpPr>
        <p:spPr>
          <a:xfrm>
            <a:off x="10058456" y="6238246"/>
            <a:ext cx="1320767"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67" cy="469393"/>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2A4A"/>
                </a:solidFill>
                <a:latin typeface="Arial" pitchFamily="34" charset="0"/>
                <a:ea typeface="Arial" pitchFamily="34" charset="-122"/>
                <a:cs typeface="Arial" pitchFamily="34" charset="-120"/>
              </a:rPr>
              <a:t>Key Findings</a:t>
            </a:r>
            <a:endParaRPr lang="en-US" sz="3200" dirty="0"/>
          </a:p>
        </p:txBody>
      </p:sp>
      <p:sp>
        <p:nvSpPr>
          <p:cNvPr id="3" name="Text 1"/>
          <p:cNvSpPr/>
          <p:nvPr/>
        </p:nvSpPr>
        <p:spPr>
          <a:xfrm>
            <a:off x="889534" y="1409092"/>
            <a:ext cx="10799063" cy="2658987"/>
          </a:xfrm>
          <a:prstGeom prst="rect">
            <a:avLst/>
          </a:prstGeom>
          <a:noFill/>
          <a:ln/>
        </p:spPr>
        <p:txBody>
          <a:bodyPr wrap="square" lIns="0" tIns="0" rIns="0" bIns="0" rtlCol="0" anchor="t">
            <a:normAutofit/>
          </a:bodyPr>
          <a:lstStyle/>
          <a:p>
            <a:pPr algn="l" marL="177216" indent="-177216">
              <a:lnSpc>
                <a:spcPts val="2306"/>
              </a:lnSpc>
              <a:buSzPct val="100000"/>
              <a:buChar char="•"/>
            </a:pPr>
            <a:r>
              <a:rPr lang="en-US" sz="1590" b="1" dirty="0">
                <a:solidFill>
                  <a:srgbClr val="1F2937"/>
                </a:solidFill>
                <a:latin typeface="Arial" pitchFamily="34" charset="0"/>
                <a:ea typeface="Arial" pitchFamily="34" charset="-122"/>
                <a:cs typeface="Arial" pitchFamily="34" charset="-120"/>
              </a:rPr>
              <a:t>Climate adds almost nothing:</a:t>
            </a:r>
            <a:r>
              <a:rPr lang="en-US" sz="1590" dirty="0">
                <a:solidFill>
                  <a:srgbClr val="1F2937"/>
                </a:solidFill>
                <a:latin typeface="Arial" pitchFamily="34" charset="0"/>
                <a:ea typeface="Arial" pitchFamily="34" charset="-122"/>
                <a:cs typeface="Arial" pitchFamily="34" charset="-120"/>
              </a:rPr>
              <a:t> +0.014 PR-AUC for logistic regression, +0.001 for XGBoost.</a:t>
            </a:r>
            <a:endParaRPr lang="en-US" sz="1590" dirty="0"/>
          </a:p>
          <a:p>
            <a:pPr algn="l" marL="177216" indent="-177216">
              <a:lnSpc>
                <a:spcPts val="2306"/>
              </a:lnSpc>
              <a:buSzPct val="100000"/>
              <a:buChar char="•"/>
            </a:pPr>
            <a:r>
              <a:rPr lang="en-US" sz="1590" b="1" dirty="0">
                <a:solidFill>
                  <a:srgbClr val="1F2937"/>
                </a:solidFill>
                <a:latin typeface="Arial" pitchFamily="34" charset="0"/>
                <a:ea typeface="Arial" pitchFamily="34" charset="-122"/>
                <a:cs typeface="Arial" pitchFamily="34" charset="-120"/>
              </a:rPr>
              <a:t>Reporting history carries the signal:</a:t>
            </a:r>
            <a:r>
              <a:rPr lang="en-US" sz="1590" dirty="0">
                <a:solidFill>
                  <a:srgbClr val="1F2937"/>
                </a:solidFill>
                <a:latin typeface="Arial" pitchFamily="34" charset="0"/>
                <a:ea typeface="Arial" pitchFamily="34" charset="-122"/>
                <a:cs typeface="Arial" pitchFamily="34" charset="-120"/>
              </a:rPr>
              <a:t> SARIMA, using only the reporting series and no climate, nearly matches the machine learning models.</a:t>
            </a:r>
            <a:endParaRPr lang="en-US" sz="1590" dirty="0"/>
          </a:p>
          <a:p>
            <a:pPr algn="l" marL="177216" indent="-177216">
              <a:lnSpc>
                <a:spcPts val="2306"/>
              </a:lnSpc>
              <a:buSzPct val="100000"/>
              <a:buChar char="•"/>
            </a:pPr>
            <a:r>
              <a:rPr lang="en-US" sz="1590" b="1" dirty="0">
                <a:solidFill>
                  <a:srgbClr val="1F2937"/>
                </a:solidFill>
                <a:latin typeface="Arial" pitchFamily="34" charset="0"/>
                <a:ea typeface="Arial" pitchFamily="34" charset="-122"/>
                <a:cs typeface="Arial" pitchFamily="34" charset="-120"/>
              </a:rPr>
              <a:t>Lead time barely matters:</a:t>
            </a:r>
            <a:r>
              <a:rPr lang="en-US" sz="1590" dirty="0">
                <a:solidFill>
                  <a:srgbClr val="1F2937"/>
                </a:solidFill>
                <a:latin typeface="Arial" pitchFamily="34" charset="0"/>
                <a:ea typeface="Arial" pitchFamily="34" charset="-122"/>
                <a:cs typeface="Arial" pitchFamily="34" charset="-120"/>
              </a:rPr>
              <a:t> Maharashtra dengue logistic PR-AUC is 0.643, 0.618, 0.625 and 0.637 at 1–4 weeks, so the models track seasonal regimes, not short-term dynamics.</a:t>
            </a:r>
            <a:endParaRPr lang="en-US" sz="1590" dirty="0"/>
          </a:p>
          <a:p>
            <a:pPr algn="l" marL="177216" indent="-177216">
              <a:lnSpc>
                <a:spcPts val="2306"/>
              </a:lnSpc>
              <a:buSzPct val="100000"/>
              <a:buChar char="•"/>
            </a:pPr>
            <a:r>
              <a:rPr lang="en-US" sz="1590" b="1" dirty="0">
                <a:solidFill>
                  <a:srgbClr val="1F2937"/>
                </a:solidFill>
                <a:latin typeface="Arial" pitchFamily="34" charset="0"/>
                <a:ea typeface="Arial" pitchFamily="34" charset="-122"/>
                <a:cs typeface="Arial" pitchFamily="34" charset="-120"/>
              </a:rPr>
              <a:t>Past seasonality alone is unstable:</a:t>
            </a:r>
            <a:r>
              <a:rPr lang="en-US" sz="1590" dirty="0">
                <a:solidFill>
                  <a:srgbClr val="1F2937"/>
                </a:solidFill>
                <a:latin typeface="Arial" pitchFamily="34" charset="0"/>
                <a:ea typeface="Arial" pitchFamily="34" charset="-122"/>
                <a:cs typeface="Arial" pitchFamily="34" charset="-120"/>
              </a:rPr>
              <a:t> the seasonal baseline fell from 0.575 PR-AUC on training data to 0.200 on test.</a:t>
            </a:r>
            <a:endParaRPr lang="en-US" sz="1590" dirty="0"/>
          </a:p>
          <a:p>
            <a:pPr algn="l" marL="177216" indent="-177216">
              <a:lnSpc>
                <a:spcPts val="2306"/>
              </a:lnSpc>
              <a:buSzPct val="100000"/>
              <a:buChar char="•"/>
            </a:pPr>
            <a:r>
              <a:rPr lang="en-US" sz="1590" b="1" dirty="0">
                <a:solidFill>
                  <a:srgbClr val="1F2937"/>
                </a:solidFill>
                <a:latin typeface="Arial" pitchFamily="34" charset="0"/>
                <a:ea typeface="Arial" pitchFamily="34" charset="-122"/>
                <a:cs typeface="Arial" pitchFamily="34" charset="-120"/>
              </a:rPr>
              <a:t>Explanations disagree:</a:t>
            </a:r>
            <a:r>
              <a:rPr lang="en-US" sz="1590" dirty="0">
                <a:solidFill>
                  <a:srgbClr val="1F2937"/>
                </a:solidFill>
                <a:latin typeface="Arial" pitchFamily="34" charset="0"/>
                <a:ea typeface="Arial" pitchFamily="34" charset="-122"/>
                <a:cs typeface="Arial" pitchFamily="34" charset="-120"/>
              </a:rPr>
              <a:t> SHAP ranks the 8-week rolling reporting rate first (mean |SHAP| 0.129), but permutation importance does not corroborate it.</a:t>
            </a:r>
            <a:endParaRPr lang="en-US" sz="159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3" y="4206618"/>
          <a:ext cx="10554879" cy="1635342"/>
        </p:xfrm>
        <a:graphic>
          <a:graphicData uri="http://schemas.openxmlformats.org/drawingml/2006/table">
            <a:tbl>
              <a:tblPr/>
              <a:tblGrid>
                <a:gridCol w="4221952"/>
                <a:gridCol w="6332928"/>
              </a:tblGrid>
              <a:tr h="408790">
                <a:tc>
                  <a:txBody>
                    <a:bodyPr/>
                    <a:lstStyle/>
                    <a:p>
                      <a:pPr indent="0" marL="0">
                        <a:lnSpc>
                          <a:spcPts val="2080"/>
                        </a:lnSpc>
                        <a:buNone/>
                      </a:pPr>
                      <a:r>
                        <a:rPr lang="en-US" sz="1486" b="1" dirty="0">
                          <a:solidFill>
                            <a:srgbClr val="1F2937"/>
                          </a:solidFill>
                          <a:latin typeface="Arial" pitchFamily="34" charset="0"/>
                          <a:ea typeface="Arial" pitchFamily="34" charset="-122"/>
                          <a:cs typeface="Arial" pitchFamily="34" charset="-120"/>
                        </a:rPr>
                        <a:t>Hypothesis</a:t>
                      </a:r>
                      <a:endParaRPr lang="en-US" sz="1486" dirty="0">
                        <a:latin typeface="Arial" charset="0"/>
                        <a:ea typeface="Arial" charset="0"/>
                        <a:cs typeface="Arial" charset="0"/>
                      </a:endParaRPr>
                    </a:p>
                  </a:txBody>
                  <a:tcPr marL="66050" marR="66050" marT="66050" marB="66050" anchor="t">
                    <a:lnL w="12700" cap="flat" cmpd="sng" algn="ctr">
                      <a:solidFill>
                        <a:srgbClr val="CBCBC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c>
                  <a:txBody>
                    <a:bodyPr/>
                    <a:lstStyle/>
                    <a:p>
                      <a:pPr indent="0" marL="0">
                        <a:lnSpc>
                          <a:spcPts val="2080"/>
                        </a:lnSpc>
                        <a:buNone/>
                      </a:pPr>
                      <a:r>
                        <a:rPr lang="en-US" sz="1486" b="1" dirty="0">
                          <a:solidFill>
                            <a:srgbClr val="1F2937"/>
                          </a:solidFill>
                          <a:latin typeface="Arial" pitchFamily="34" charset="0"/>
                          <a:ea typeface="Arial" pitchFamily="34" charset="-122"/>
                          <a:cs typeface="Arial" pitchFamily="34" charset="-120"/>
                        </a:rPr>
                        <a:t>Verdict</a:t>
                      </a:r>
                      <a:endParaRPr lang="en-US" sz="1486" dirty="0">
                        <a:latin typeface="Arial" charset="0"/>
                        <a:ea typeface="Arial" charset="0"/>
                        <a:cs typeface="Arial" charset="0"/>
                      </a:endParaRPr>
                    </a:p>
                  </a:txBody>
                  <a:tcPr marL="66050" marR="66050" marT="66050" marB="66050" anchor="t">
                    <a:lnL w="12700" cap="flat" cmpd="sng" algn="ctr">
                      <a:solidFill>
                        <a:srgbClr val="B7B9BB"/>
                      </a:solidFill>
                      <a:prstDash val="solid"/>
                      <a:round/>
                      <a:headEnd type="none" w="med" len="med"/>
                      <a:tailEnd type="none" w="med" len="med"/>
                    </a:lnL>
                    <a:lnR w="12700" cap="flat" cmpd="sng" algn="ctr">
                      <a:solidFill>
                        <a:srgbClr val="B7B9B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7B9BB"/>
                      </a:solidFill>
                      <a:prstDash val="solid"/>
                      <a:round/>
                      <a:headEnd type="none" w="med" len="med"/>
                      <a:tailEnd type="none" w="med" len="med"/>
                    </a:lnB>
                    <a:solidFill>
                      <a:srgbClr val="E5E7EB"/>
                    </a:solidFill>
                  </a:tcPr>
                </a:tc>
              </a:tr>
              <a:tr h="408851">
                <a:tc>
                  <a:txBody>
                    <a:bodyPr/>
                    <a:lstStyle/>
                    <a:p>
                      <a:pPr indent="0" marL="0">
                        <a:lnSpc>
                          <a:spcPts val="2080"/>
                        </a:lnSpc>
                        <a:buNone/>
                      </a:pPr>
                      <a:r>
                        <a:rPr lang="en-US" sz="1486" dirty="0">
                          <a:solidFill>
                            <a:srgbClr val="1F2937"/>
                          </a:solidFill>
                          <a:latin typeface="Arial" pitchFamily="34" charset="0"/>
                          <a:ea typeface="Arial" pitchFamily="34" charset="-122"/>
                          <a:cs typeface="Arial" pitchFamily="34" charset="-120"/>
                        </a:rPr>
                        <a:t>H1: Climate improves forecasts</a:t>
                      </a:r>
                      <a:endParaRPr lang="en-US" sz="1486" dirty="0">
                        <a:latin typeface="Arial" charset="0"/>
                        <a:ea typeface="Arial" charset="0"/>
                        <a:cs typeface="Arial" charset="0"/>
                      </a:endParaRPr>
                    </a:p>
                  </a:txBody>
                  <a:tcPr marL="66050" marR="66050" marT="66050" marB="660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080"/>
                        </a:lnSpc>
                        <a:buNone/>
                      </a:pPr>
                      <a:r>
                        <a:rPr lang="en-US" sz="1486" dirty="0">
                          <a:solidFill>
                            <a:srgbClr val="1F2937"/>
                          </a:solidFill>
                          <a:latin typeface="Arial" pitchFamily="34" charset="0"/>
                          <a:ea typeface="Arial" pitchFamily="34" charset="-122"/>
                          <a:cs typeface="Arial" pitchFamily="34" charset="-120"/>
                        </a:rPr>
                        <a:t>Not supported at state-centroid resolution</a:t>
                      </a:r>
                      <a:endParaRPr lang="en-US" sz="1486" dirty="0">
                        <a:latin typeface="Arial" charset="0"/>
                        <a:ea typeface="Arial" charset="0"/>
                        <a:cs typeface="Arial" charset="0"/>
                      </a:endParaRPr>
                    </a:p>
                  </a:txBody>
                  <a:tcPr marL="66050" marR="66050" marT="66050" marB="660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7B9B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08851">
                <a:tc>
                  <a:txBody>
                    <a:bodyPr/>
                    <a:lstStyle/>
                    <a:p>
                      <a:pPr indent="0" marL="0">
                        <a:lnSpc>
                          <a:spcPts val="2080"/>
                        </a:lnSpc>
                        <a:buNone/>
                      </a:pPr>
                      <a:r>
                        <a:rPr lang="en-US" sz="1486" dirty="0">
                          <a:solidFill>
                            <a:srgbClr val="1F2937"/>
                          </a:solidFill>
                          <a:latin typeface="Arial" pitchFamily="34" charset="0"/>
                          <a:ea typeface="Arial" pitchFamily="34" charset="-122"/>
                          <a:cs typeface="Arial" pitchFamily="34" charset="-120"/>
                        </a:rPr>
                        <a:t>H2: One pipeline generalizes</a:t>
                      </a:r>
                      <a:endParaRPr lang="en-US" sz="1486" dirty="0">
                        <a:latin typeface="Arial" charset="0"/>
                        <a:ea typeface="Arial" charset="0"/>
                        <a:cs typeface="Arial" charset="0"/>
                      </a:endParaRPr>
                    </a:p>
                  </a:txBody>
                  <a:tcPr marL="66050" marR="66050" marT="66050" marB="66050" anchor="t">
                    <a:lnL w="12700" cap="flat" cmpd="sng" algn="ctr">
                      <a:solidFill>
                        <a:srgbClr val="CBCBCB"/>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c>
                  <a:txBody>
                    <a:bodyPr/>
                    <a:lstStyle/>
                    <a:p>
                      <a:pPr indent="0" marL="0">
                        <a:lnSpc>
                          <a:spcPts val="2080"/>
                        </a:lnSpc>
                        <a:buNone/>
                      </a:pPr>
                      <a:r>
                        <a:rPr lang="en-US" sz="1486" dirty="0">
                          <a:solidFill>
                            <a:srgbClr val="1F2937"/>
                          </a:solidFill>
                          <a:latin typeface="Arial" pitchFamily="34" charset="0"/>
                          <a:ea typeface="Arial" pitchFamily="34" charset="-122"/>
                          <a:cs typeface="Arial" pitchFamily="34" charset="-120"/>
                        </a:rPr>
                        <a:t>Supported for dengue (2 states); not for ADD (5 states)</a:t>
                      </a:r>
                      <a:endParaRPr lang="en-US" sz="1486" dirty="0">
                        <a:latin typeface="Arial" charset="0"/>
                        <a:ea typeface="Arial" charset="0"/>
                        <a:cs typeface="Arial" charset="0"/>
                      </a:endParaRPr>
                    </a:p>
                  </a:txBody>
                  <a:tcPr marL="66050" marR="66050" marT="66050" marB="66050" anchor="t">
                    <a:lnL w="12700" cap="flat" cmpd="sng" algn="ctr">
                      <a:solidFill>
                        <a:srgbClr val="C7C7C8"/>
                      </a:solidFill>
                      <a:prstDash val="solid"/>
                      <a:round/>
                      <a:headEnd type="none" w="med" len="med"/>
                      <a:tailEnd type="none" w="med" len="med"/>
                    </a:lnL>
                    <a:lnR w="12700" cap="flat" cmpd="sng" algn="ctr">
                      <a:solidFill>
                        <a:srgbClr val="C7C7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7C7C8"/>
                      </a:solidFill>
                      <a:prstDash val="solid"/>
                      <a:round/>
                      <a:headEnd type="none" w="med" len="med"/>
                      <a:tailEnd type="none" w="med" len="med"/>
                    </a:lnB>
                    <a:solidFill>
                      <a:srgbClr val="F9FAFB"/>
                    </a:solidFill>
                  </a:tcPr>
                </a:tc>
              </a:tr>
              <a:tr h="408851">
                <a:tc>
                  <a:txBody>
                    <a:bodyPr/>
                    <a:lstStyle/>
                    <a:p>
                      <a:pPr indent="0" marL="0">
                        <a:lnSpc>
                          <a:spcPts val="2080"/>
                        </a:lnSpc>
                        <a:buNone/>
                      </a:pPr>
                      <a:r>
                        <a:rPr lang="en-US" sz="1486" dirty="0">
                          <a:solidFill>
                            <a:srgbClr val="1F2937"/>
                          </a:solidFill>
                          <a:latin typeface="Arial" pitchFamily="34" charset="0"/>
                          <a:ea typeface="Arial" pitchFamily="34" charset="-122"/>
                          <a:cs typeface="Arial" pitchFamily="34" charset="-120"/>
                        </a:rPr>
                        <a:t>H3: XAI identifies the drivers</a:t>
                      </a:r>
                      <a:endParaRPr lang="en-US" sz="1486" dirty="0">
                        <a:latin typeface="Arial" charset="0"/>
                        <a:ea typeface="Arial" charset="0"/>
                        <a:cs typeface="Arial" charset="0"/>
                      </a:endParaRPr>
                    </a:p>
                  </a:txBody>
                  <a:tcPr marL="66050" marR="66050" marT="66050" marB="660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080"/>
                        </a:lnSpc>
                        <a:buNone/>
                      </a:pPr>
                      <a:r>
                        <a:rPr lang="en-US" sz="1486" dirty="0">
                          <a:solidFill>
                            <a:srgbClr val="1F2937"/>
                          </a:solidFill>
                          <a:latin typeface="Arial" pitchFamily="34" charset="0"/>
                          <a:ea typeface="Arial" pitchFamily="34" charset="-122"/>
                          <a:cs typeface="Arial" pitchFamily="34" charset="-120"/>
                        </a:rPr>
                        <a:t>Not corroborated: SHAP and permutation importance disagree</a:t>
                      </a:r>
                      <a:endParaRPr lang="en-US" sz="1486" dirty="0">
                        <a:latin typeface="Arial" charset="0"/>
                        <a:ea typeface="Arial" charset="0"/>
                        <a:cs typeface="Arial" charset="0"/>
                      </a:endParaRPr>
                    </a:p>
                  </a:txBody>
                  <a:tcPr marL="66050" marR="66050" marT="66050" marB="660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10058456" y="6238249"/>
            <a:ext cx="1320767"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2A4A"/>
                </a:solidFill>
                <a:latin typeface="Arial" pitchFamily="34" charset="0"/>
                <a:ea typeface="Arial" pitchFamily="34" charset="-122"/>
                <a:cs typeface="Arial" pitchFamily="34" charset="-120"/>
              </a:rPr>
              <a:t>Limitations and Future Work</a:t>
            </a:r>
            <a:endParaRPr lang="en-US" sz="3200" dirty="0"/>
          </a:p>
        </p:txBody>
      </p:sp>
      <p:sp>
        <p:nvSpPr>
          <p:cNvPr id="3" name="Text 1"/>
          <p:cNvSpPr/>
          <p:nvPr/>
        </p:nvSpPr>
        <p:spPr>
          <a:xfrm>
            <a:off x="812750" y="1820714"/>
            <a:ext cx="5232450"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A"/>
                </a:solidFill>
                <a:latin typeface="Arial" pitchFamily="34" charset="0"/>
                <a:ea typeface="Arial" pitchFamily="34" charset="-122"/>
                <a:cs typeface="Arial" pitchFamily="34" charset="-120"/>
              </a:rPr>
              <a:t>Limitations</a:t>
            </a:r>
            <a:endParaRPr lang="en-US" sz="1800" dirty="0"/>
          </a:p>
        </p:txBody>
      </p:sp>
      <p:sp>
        <p:nvSpPr>
          <p:cNvPr id="4" name="Text 2"/>
          <p:cNvSpPr/>
          <p:nvPr/>
        </p:nvSpPr>
        <p:spPr>
          <a:xfrm>
            <a:off x="882346" y="2196598"/>
            <a:ext cx="5155234" cy="2216987"/>
          </a:xfrm>
          <a:prstGeom prst="rect">
            <a:avLst/>
          </a:prstGeom>
          <a:noFill/>
          <a:ln/>
        </p:spPr>
        <p:txBody>
          <a:bodyPr wrap="square" lIns="0" tIns="0" rIns="0" bIns="0" rtlCol="0" anchor="t">
            <a:normAutofit/>
          </a:bodyPr>
          <a:lstStyle/>
          <a:p>
            <a:pPr algn="l" marL="184404" indent="-184404">
              <a:lnSpc>
                <a:spcPts val="2465"/>
              </a:lnSpc>
              <a:buSzPct val="100000"/>
              <a:buChar char="•"/>
            </a:pPr>
            <a:r>
              <a:rPr lang="en-US" sz="1700" dirty="0">
                <a:solidFill>
                  <a:srgbClr val="1F2937"/>
                </a:solidFill>
                <a:latin typeface="Arial" pitchFamily="34" charset="0"/>
                <a:ea typeface="Arial" pitchFamily="34" charset="-122"/>
                <a:cs typeface="Arial" pitchFamily="34" charset="-120"/>
              </a:rPr>
              <a:t>We forecast reporting, not infection incidence.</a:t>
            </a:r>
            <a:endParaRPr lang="en-US" sz="1700" dirty="0"/>
          </a:p>
          <a:p>
            <a:pPr algn="l" marL="184404" indent="-184404">
              <a:lnSpc>
                <a:spcPts val="2465"/>
              </a:lnSpc>
              <a:buSzPct val="100000"/>
              <a:buChar char="•"/>
            </a:pPr>
            <a:r>
              <a:rPr lang="en-US" sz="1700" dirty="0">
                <a:solidFill>
                  <a:srgbClr val="1F2937"/>
                </a:solidFill>
                <a:latin typeface="Arial" pitchFamily="34" charset="0"/>
                <a:ea typeface="Arial" pitchFamily="34" charset="-122"/>
                <a:cs typeface="Arial" pitchFamily="34" charset="-120"/>
              </a:rPr>
              <a:t>One climate point per state (its centroid).</a:t>
            </a:r>
            <a:endParaRPr lang="en-US" sz="1700" dirty="0"/>
          </a:p>
          <a:p>
            <a:pPr algn="l" marL="184404" indent="-184404">
              <a:lnSpc>
                <a:spcPts val="2465"/>
              </a:lnSpc>
              <a:buSzPct val="100000"/>
              <a:buChar char="•"/>
            </a:pPr>
            <a:r>
              <a:rPr lang="en-US" sz="1700" dirty="0">
                <a:solidFill>
                  <a:srgbClr val="1F2937"/>
                </a:solidFill>
                <a:latin typeface="Arial" pitchFamily="34" charset="0"/>
                <a:ea typeface="Arial" pitchFamily="34" charset="-122"/>
                <a:cs typeface="Arial" pitchFamily="34" charset="-120"/>
              </a:rPr>
              <a:t>Small test set (78 weeks), so CIs are wide.</a:t>
            </a:r>
            <a:endParaRPr lang="en-US" sz="1700" dirty="0"/>
          </a:p>
          <a:p>
            <a:pPr algn="l" marL="184404" indent="-184404">
              <a:lnSpc>
                <a:spcPts val="2465"/>
              </a:lnSpc>
              <a:buSzPct val="100000"/>
              <a:buChar char="•"/>
            </a:pPr>
            <a:r>
              <a:rPr lang="en-US" sz="1700" dirty="0">
                <a:solidFill>
                  <a:srgbClr val="1F2937"/>
                </a:solidFill>
                <a:latin typeface="Arial" pitchFamily="34" charset="0"/>
                <a:ea typeface="Arial" pitchFamily="34" charset="-122"/>
                <a:cs typeface="Arial" pitchFamily="34" charset="-120"/>
              </a:rPr>
              <a:t>Scores rank weeks; they are not calibrated probabilities.</a:t>
            </a:r>
            <a:endParaRPr lang="en-US" sz="1700" dirty="0"/>
          </a:p>
          <a:p>
            <a:pPr algn="l" marL="184404" indent="-184404">
              <a:lnSpc>
                <a:spcPts val="2465"/>
              </a:lnSpc>
              <a:buSzPct val="100000"/>
              <a:buChar char="•"/>
            </a:pPr>
            <a:r>
              <a:rPr lang="en-US" sz="1700" dirty="0">
                <a:solidFill>
                  <a:srgbClr val="1F2937"/>
                </a:solidFill>
                <a:latin typeface="Arial" pitchFamily="34" charset="0"/>
                <a:ea typeface="Arial" pitchFamily="34" charset="-122"/>
                <a:cs typeface="Arial" pitchFamily="34" charset="-120"/>
              </a:rPr>
              <a:t>Reporting stayed low after 2020 in some series (Karnataka dengue: 3.8% of weeks in 2022).</a:t>
            </a:r>
            <a:endParaRPr lang="en-US" sz="1700" dirty="0"/>
          </a:p>
        </p:txBody>
      </p:sp>
      <p:sp>
        <p:nvSpPr>
          <p:cNvPr id="5" name="Text 3"/>
          <p:cNvSpPr/>
          <p:nvPr/>
        </p:nvSpPr>
        <p:spPr>
          <a:xfrm>
            <a:off x="6299174" y="1820714"/>
            <a:ext cx="5232450"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A"/>
                </a:solidFill>
                <a:latin typeface="Arial" pitchFamily="34" charset="0"/>
                <a:ea typeface="Arial" pitchFamily="34" charset="-122"/>
                <a:cs typeface="Arial" pitchFamily="34" charset="-120"/>
              </a:rPr>
              <a:t>Future work</a:t>
            </a:r>
            <a:endParaRPr lang="en-US" sz="1800" dirty="0"/>
          </a:p>
        </p:txBody>
      </p:sp>
      <p:sp>
        <p:nvSpPr>
          <p:cNvPr id="6" name="Text 4"/>
          <p:cNvSpPr/>
          <p:nvPr/>
        </p:nvSpPr>
        <p:spPr>
          <a:xfrm>
            <a:off x="6368770" y="2196598"/>
            <a:ext cx="5155234" cy="2843154"/>
          </a:xfrm>
          <a:prstGeom prst="rect">
            <a:avLst/>
          </a:prstGeom>
          <a:noFill/>
          <a:ln/>
        </p:spPr>
        <p:txBody>
          <a:bodyPr wrap="square" lIns="0" tIns="0" rIns="0" bIns="0" rtlCol="0" anchor="t">
            <a:normAutofit/>
          </a:bodyPr>
          <a:lstStyle/>
          <a:p>
            <a:pPr algn="l" marL="184404" indent="-184404">
              <a:lnSpc>
                <a:spcPts val="2465"/>
              </a:lnSpc>
              <a:buSzPct val="100000"/>
              <a:buChar char="•"/>
            </a:pPr>
            <a:r>
              <a:rPr lang="en-US" sz="1700" dirty="0">
                <a:solidFill>
                  <a:srgbClr val="1F2937"/>
                </a:solidFill>
                <a:latin typeface="Arial" pitchFamily="34" charset="0"/>
                <a:ea typeface="Arial" pitchFamily="34" charset="-122"/>
                <a:cs typeface="Arial" pitchFamily="34" charset="-120"/>
              </a:rPr>
              <a:t>Add IDSP weekly reports from July 2022 to 2026.</a:t>
            </a:r>
            <a:endParaRPr lang="en-US" sz="1700" dirty="0"/>
          </a:p>
          <a:p>
            <a:pPr algn="l" marL="184404" indent="-184404">
              <a:lnSpc>
                <a:spcPts val="2465"/>
              </a:lnSpc>
              <a:buSzPct val="100000"/>
              <a:buChar char="•"/>
            </a:pPr>
            <a:r>
              <a:rPr lang="en-US" sz="1700" dirty="0">
                <a:solidFill>
                  <a:srgbClr val="1F2937"/>
                </a:solidFill>
                <a:latin typeface="Arial" pitchFamily="34" charset="0"/>
                <a:ea typeface="Arial" pitchFamily="34" charset="-122"/>
                <a:cs typeface="Arial" pitchFamily="34" charset="-120"/>
              </a:rPr>
              <a:t>Validate the new extraction against EpiClim’s Jan 2021 – Jun 2022 overlap.</a:t>
            </a:r>
            <a:endParaRPr lang="en-US" sz="1700" dirty="0"/>
          </a:p>
          <a:p>
            <a:pPr algn="l" marL="184404" indent="-184404">
              <a:lnSpc>
                <a:spcPts val="2465"/>
              </a:lnSpc>
              <a:buSzPct val="100000"/>
              <a:buChar char="•"/>
            </a:pPr>
            <a:r>
              <a:rPr lang="en-US" sz="1700" dirty="0">
                <a:solidFill>
                  <a:srgbClr val="1F2937"/>
                </a:solidFill>
                <a:latin typeface="Arial" pitchFamily="34" charset="0"/>
                <a:ea typeface="Arial" pitchFamily="34" charset="-122"/>
                <a:cs typeface="Arial" pitchFamily="34" charset="-120"/>
              </a:rPr>
              <a:t>Test the frozen models out of time on the new period.</a:t>
            </a:r>
            <a:endParaRPr lang="en-US" sz="1700" dirty="0"/>
          </a:p>
          <a:p>
            <a:pPr algn="l" marL="184404" indent="-184404">
              <a:lnSpc>
                <a:spcPts val="2465"/>
              </a:lnSpc>
              <a:buSzPct val="100000"/>
              <a:buChar char="•"/>
            </a:pPr>
            <a:r>
              <a:rPr lang="en-US" sz="1700" dirty="0">
                <a:solidFill>
                  <a:srgbClr val="1F2937"/>
                </a:solidFill>
                <a:latin typeface="Arial" pitchFamily="34" charset="0"/>
                <a:ea typeface="Arial" pitchFamily="34" charset="-122"/>
                <a:cs typeface="Arial" pitchFamily="34" charset="-120"/>
              </a:rPr>
              <a:t>Compare reporting with NCVBDC annual dengue case counts.</a:t>
            </a:r>
            <a:endParaRPr lang="en-US" sz="1700" dirty="0"/>
          </a:p>
          <a:p>
            <a:pPr algn="l" marL="184404" indent="-184404">
              <a:lnSpc>
                <a:spcPts val="2465"/>
              </a:lnSpc>
              <a:buSzPct val="100000"/>
              <a:buChar char="•"/>
            </a:pPr>
            <a:r>
              <a:rPr lang="en-US" sz="1700" dirty="0">
                <a:solidFill>
                  <a:srgbClr val="1F2937"/>
                </a:solidFill>
                <a:latin typeface="Arial" pitchFamily="34" charset="0"/>
                <a:ea typeface="Arial" pitchFamily="34" charset="-122"/>
                <a:cs typeface="Arial" pitchFamily="34" charset="-120"/>
              </a:rPr>
              <a:t>Finer climate (IMD gridded data) and district-level data where available.</a:t>
            </a:r>
            <a:endParaRPr lang="en-US" sz="1700" dirty="0"/>
          </a:p>
        </p:txBody>
      </p:sp>
      <p:sp>
        <p:nvSpPr>
          <p:cNvPr id="7" name="Text 5"/>
          <p:cNvSpPr/>
          <p:nvPr/>
        </p:nvSpPr>
        <p:spPr>
          <a:xfrm>
            <a:off x="812750" y="5575244"/>
            <a:ext cx="10883467" cy="29211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B5563"/>
                </a:solidFill>
                <a:latin typeface="Arial" pitchFamily="34" charset="0"/>
                <a:ea typeface="Arial" pitchFamily="34" charset="-122"/>
                <a:cs typeface="Arial" pitchFamily="34" charset="-120"/>
              </a:rPr>
              <a:t>Live demo:</a:t>
            </a:r>
            <a:r>
              <a:rPr lang="en-US" sz="1500" dirty="0">
                <a:solidFill>
                  <a:srgbClr val="4B5563"/>
                </a:solidFill>
                <a:latin typeface="Arial" pitchFamily="34" charset="0"/>
                <a:ea typeface="Arial" pitchFamily="34" charset="-122"/>
                <a:cs typeface="Arial" pitchFamily="34" charset="-120"/>
              </a:rPr>
              <a:t> </a:t>
            </a:r>
            <a:r>
              <a:rPr lang="en-US" sz="1500" u="sng" dirty="0">
                <a:solidFill>
                  <a:srgbClr val="4B5563"/>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disease-outbreak-ai-nine.vercel.app</a:t>
            </a:r>
            <a:r>
              <a:rPr lang="en-US" sz="1500" dirty="0">
                <a:solidFill>
                  <a:srgbClr val="4B5563"/>
                </a:solidFill>
                <a:latin typeface="Arial" pitchFamily="34" charset="0"/>
                <a:ea typeface="Arial" pitchFamily="34" charset="-122"/>
                <a:cs typeface="Arial" pitchFamily="34" charset="-120"/>
              </a:rPr>
              <a:t> · </a:t>
            </a:r>
            <a:r>
              <a:rPr lang="en-US" sz="1500" b="1" dirty="0">
                <a:solidFill>
                  <a:srgbClr val="4B5563"/>
                </a:solidFill>
                <a:latin typeface="Arial" pitchFamily="34" charset="0"/>
                <a:ea typeface="Arial" pitchFamily="34" charset="-122"/>
                <a:cs typeface="Arial" pitchFamily="34" charset="-120"/>
              </a:rPr>
              <a:t>Code:</a:t>
            </a:r>
            <a:r>
              <a:rPr lang="en-US" sz="1500" dirty="0">
                <a:solidFill>
                  <a:srgbClr val="4B5563"/>
                </a:solidFill>
                <a:latin typeface="Arial" pitchFamily="34" charset="0"/>
                <a:ea typeface="Arial" pitchFamily="34" charset="-122"/>
                <a:cs typeface="Arial" pitchFamily="34" charset="-120"/>
              </a:rPr>
              <a:t> </a:t>
            </a:r>
            <a:r>
              <a:rPr lang="en-US" sz="1500" u="sng" dirty="0">
                <a:solidFill>
                  <a:srgbClr val="4B5563"/>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github.com/sumukh-dgaf/disease-outbreak-ai</a:t>
            </a:r>
            <a:endParaRPr lang="en-US" sz="1500" dirty="0"/>
          </a:p>
        </p:txBody>
      </p:sp>
      <p:sp>
        <p:nvSpPr>
          <p:cNvPr id="8" name="Text 6"/>
          <p:cNvSpPr/>
          <p:nvPr/>
        </p:nvSpPr>
        <p:spPr>
          <a:xfrm>
            <a:off x="10058456" y="6238249"/>
            <a:ext cx="1320767" cy="23873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theme/theme1.xml><?xml version="1.0" encoding="utf-8"?>
<a:theme xmlns:a="http://schemas.openxmlformats.org/drawingml/2006/main" name="Disease Outbreak Forecasting">
  <a:themeElements>
    <a:clrScheme name="Disease Outbreak Forecasting">
      <a:dk1>
        <a:srgbClr val="1F2937"/>
      </a:dk1>
      <a:lt1>
        <a:srgbClr val="FFFFFF"/>
      </a:lt1>
      <a:dk2>
        <a:srgbClr val="575F69"/>
      </a:dk2>
      <a:lt2>
        <a:srgbClr val="E9EAEB"/>
      </a:lt2>
      <a:accent1>
        <a:srgbClr val="1F5FA8"/>
      </a:accent1>
      <a:accent2>
        <a:srgbClr val="D9822B"/>
      </a:accent2>
      <a:accent3>
        <a:srgbClr val="4B5563"/>
      </a:accent3>
      <a:accent4>
        <a:srgbClr val="6B7280"/>
      </a:accent4>
      <a:accent5>
        <a:srgbClr val="E5E7EB"/>
      </a:accent5>
      <a:accent6>
        <a:srgbClr val="9AA0A6"/>
      </a:accent6>
      <a:hlink>
        <a:srgbClr val="0563C1"/>
      </a:hlink>
      <a:folHlink>
        <a:srgbClr val="954F72"/>
      </a:folHlink>
    </a:clrScheme>
    <a:fontScheme name="Disease Outbreak Forecast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Disease Outbreak Forecasting</dc:title>
  <dc:subject/>
  <dc:creator/>
  <cp:lastModifiedBy/>
  <cp:revision>1</cp:revision>
  <dcterms:created xsi:type="dcterms:W3CDTF">2026-10-29T14:38:55Z</dcterms:created>
  <dcterms:modified xsi:type="dcterms:W3CDTF">2026-10-29T14:38:55Z</dcterms:modified>
</cp:coreProperties>
</file>